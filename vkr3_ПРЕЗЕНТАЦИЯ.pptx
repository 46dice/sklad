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8" r:id="rId4"/>
    <p:sldId id="258" r:id="rId5"/>
    <p:sldId id="269" r:id="rId6"/>
    <p:sldId id="271" r:id="rId7"/>
    <p:sldId id="259" r:id="rId8"/>
    <p:sldId id="260" r:id="rId9"/>
    <p:sldId id="267" r:id="rId10"/>
    <p:sldId id="272" r:id="rId11"/>
    <p:sldId id="262" r:id="rId12"/>
    <p:sldId id="263" r:id="rId13"/>
    <p:sldId id="264" r:id="rId14"/>
    <p:sldId id="265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36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39"/>
    <p:restoredTop sz="95226" autoAdjust="0"/>
  </p:normalViewPr>
  <p:slideViewPr>
    <p:cSldViewPr snapToGrid="0" snapToObjects="1">
      <p:cViewPr>
        <p:scale>
          <a:sx n="198" d="100"/>
          <a:sy n="198" d="100"/>
        </p:scale>
        <p:origin x="168" y="1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4291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2734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6304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sz="1200" b="1" dirty="0">
                <a:latin typeface="Merriweather" pitchFamily="2" charset="0"/>
              </a:rPr>
              <a:t>Users (</a:t>
            </a:r>
            <a:r>
              <a:rPr lang="ru-RU" sz="1200" b="1" dirty="0">
                <a:latin typeface="Merriweather" pitchFamily="2" charset="0"/>
              </a:rPr>
              <a:t>пользователи)</a:t>
            </a:r>
            <a:br>
              <a:rPr lang="ru-RU" sz="1200" dirty="0">
                <a:latin typeface="Merriweather" pitchFamily="2" charset="0"/>
              </a:rPr>
            </a:br>
            <a:r>
              <a:rPr lang="ru-RU" sz="1200" dirty="0">
                <a:latin typeface="Merriweather" pitchFamily="2" charset="0"/>
              </a:rPr>
              <a:t>Содержит данные о пользователях системы (</a:t>
            </a:r>
            <a:r>
              <a:rPr lang="en" sz="1200" dirty="0">
                <a:latin typeface="Merriweather" pitchFamily="2" charset="0"/>
              </a:rPr>
              <a:t>email, </a:t>
            </a:r>
            <a:r>
              <a:rPr lang="ru-RU" sz="1200" dirty="0">
                <a:latin typeface="Merriweather" pitchFamily="2" charset="0"/>
              </a:rPr>
              <a:t>имя, </a:t>
            </a:r>
            <a:r>
              <a:rPr lang="en" sz="1200" dirty="0">
                <a:latin typeface="Merriweather" pitchFamily="2" charset="0"/>
              </a:rPr>
              <a:t>uid </a:t>
            </a:r>
            <a:r>
              <a:rPr lang="ru-RU" sz="1200" dirty="0">
                <a:latin typeface="Merriweather" pitchFamily="2" charset="0"/>
              </a:rPr>
              <a:t>и др.)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sz="1200" b="1" dirty="0">
                <a:latin typeface="Merriweather" pitchFamily="2" charset="0"/>
              </a:rPr>
              <a:t>Products (</a:t>
            </a:r>
            <a:r>
              <a:rPr lang="ru-RU" sz="1200" b="1" dirty="0">
                <a:latin typeface="Merriweather" pitchFamily="2" charset="0"/>
              </a:rPr>
              <a:t>товары)</a:t>
            </a:r>
            <a:br>
              <a:rPr lang="ru-RU" sz="1200" dirty="0">
                <a:latin typeface="Merriweather" pitchFamily="2" charset="0"/>
              </a:rPr>
            </a:br>
            <a:r>
              <a:rPr lang="ru-RU" sz="1200" dirty="0">
                <a:latin typeface="Merriweather" pitchFamily="2" charset="0"/>
              </a:rPr>
              <a:t>Хранит информацию о товарах: наименование, артикул, количество, цена, категория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sz="1200" b="1" dirty="0">
                <a:latin typeface="Merriweather" pitchFamily="2" charset="0"/>
              </a:rPr>
              <a:t>Clients (</a:t>
            </a:r>
            <a:r>
              <a:rPr lang="ru-RU" sz="1200" b="1" dirty="0">
                <a:latin typeface="Merriweather" pitchFamily="2" charset="0"/>
              </a:rPr>
              <a:t>клиенты / контрагенты)</a:t>
            </a:r>
            <a:br>
              <a:rPr lang="ru-RU" sz="1200" dirty="0">
                <a:latin typeface="Merriweather" pitchFamily="2" charset="0"/>
              </a:rPr>
            </a:br>
            <a:r>
              <a:rPr lang="ru-RU" sz="1200" dirty="0">
                <a:latin typeface="Merriweather" pitchFamily="2" charset="0"/>
              </a:rPr>
              <a:t>Данные о клиентах: название, контакты, ИНН, адреса и реквизиты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sz="1200" b="1" dirty="0">
                <a:latin typeface="Merriweather" pitchFamily="2" charset="0"/>
              </a:rPr>
              <a:t>Sales (</a:t>
            </a:r>
            <a:r>
              <a:rPr lang="ru-RU" sz="1200" b="1" dirty="0">
                <a:latin typeface="Merriweather" pitchFamily="2" charset="0"/>
              </a:rPr>
              <a:t>продажи)</a:t>
            </a:r>
            <a:br>
              <a:rPr lang="ru-RU" sz="1200" dirty="0">
                <a:latin typeface="Merriweather" pitchFamily="2" charset="0"/>
              </a:rPr>
            </a:br>
            <a:r>
              <a:rPr lang="ru-RU" sz="1200" dirty="0">
                <a:latin typeface="Merriweather" pitchFamily="2" charset="0"/>
              </a:rPr>
              <a:t>Информация о продажах: список товаров, сумма, дата, клиент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sz="1200" b="1" dirty="0">
                <a:latin typeface="Merriweather" pitchFamily="2" charset="0"/>
              </a:rPr>
              <a:t>Documents (</a:t>
            </a:r>
            <a:r>
              <a:rPr lang="ru-RU" sz="1200" b="1" dirty="0">
                <a:latin typeface="Merriweather" pitchFamily="2" charset="0"/>
              </a:rPr>
              <a:t>договоры)</a:t>
            </a:r>
            <a:br>
              <a:rPr lang="ru-RU" sz="1200" dirty="0">
                <a:latin typeface="Merriweather" pitchFamily="2" charset="0"/>
              </a:rPr>
            </a:br>
            <a:r>
              <a:rPr lang="ru-RU" sz="1200" dirty="0">
                <a:latin typeface="Merriweather" pitchFamily="2" charset="0"/>
              </a:rPr>
              <a:t>Хранение договоров с клиентами: условия, сроки, список товаров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051186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63500"/>
            <a:ext cx="9391650" cy="5270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1367358"/>
            <a:ext cx="8001000" cy="4948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4300"/>
              </a:lnSpc>
              <a:buNone/>
            </a:pPr>
            <a:r>
              <a:rPr lang="en-US" sz="2000" b="1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Выпускная квалификационная работа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073150" y="2050429"/>
            <a:ext cx="7143750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400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Разработка приложения для </a:t>
            </a:r>
            <a:r>
              <a:rPr lang="en-US" sz="2400" b="1" dirty="0" err="1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складского</a:t>
            </a:r>
            <a:r>
              <a:rPr lang="en-US" sz="2400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2400" b="1" dirty="0" err="1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уч</a:t>
            </a:r>
            <a:r>
              <a:rPr lang="ru-RU" sz="2400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е</a:t>
            </a:r>
            <a:r>
              <a:rPr lang="en-US" sz="2400" b="1" dirty="0" err="1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та</a:t>
            </a:r>
            <a:r>
              <a:rPr lang="en-US" sz="2400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2400" b="1" dirty="0" err="1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</a:t>
            </a:r>
            <a:r>
              <a:rPr lang="en-US" sz="2400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2400" b="1" dirty="0" err="1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мониторинг</a:t>
            </a:r>
            <a:r>
              <a:rPr lang="en-US" sz="2400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услуг по доставке грузов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71500" y="3667568"/>
            <a:ext cx="3247878" cy="4393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 err="1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Студент</a:t>
            </a:r>
            <a:r>
              <a:rPr lang="ru-RU" sz="987" b="1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группы ИЦЭ-51з</a:t>
            </a:r>
            <a:r>
              <a:rPr lang="en-US" sz="987" b="1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:</a:t>
            </a:r>
            <a:r>
              <a:rPr lang="en-US" sz="1050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Сайфутдинов А.Г.
</a:t>
            </a:r>
            <a:r>
              <a:rPr lang="en-US" sz="987" b="1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Руководитель:</a:t>
            </a:r>
            <a:r>
              <a:rPr lang="en-US" sz="1050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Ченушкина С.В.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985585" y="4536187"/>
            <a:ext cx="2159000" cy="2085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just">
              <a:lnSpc>
                <a:spcPts val="1800"/>
              </a:lnSpc>
              <a:buNone/>
            </a:pPr>
            <a:r>
              <a:rPr lang="en-US" sz="1050" dirty="0" err="1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Екатеринбург</a:t>
            </a:r>
            <a:r>
              <a:rPr lang="ru-RU" sz="1050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</a:t>
            </a:r>
            <a:r>
              <a:rPr lang="en-US" sz="1050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2026</a:t>
            </a:r>
            <a:endParaRPr lang="en-US" sz="1050" dirty="0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353B2542-B6FA-466C-A2B0-25DEBD4EC0FA}"/>
              </a:ext>
            </a:extLst>
          </p:cNvPr>
          <p:cNvSpPr>
            <a:spLocks/>
          </p:cNvSpPr>
          <p:nvPr/>
        </p:nvSpPr>
        <p:spPr bwMode="auto">
          <a:xfrm>
            <a:off x="688181" y="-571774"/>
            <a:ext cx="7767637" cy="164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ru-RU" sz="1200" b="1" dirty="0">
                <a:solidFill>
                  <a:srgbClr val="333333"/>
                </a:solidFill>
                <a:latin typeface="+mn-lt"/>
              </a:rPr>
              <a:t>МИНОБРНАУКИ РОССИИ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ru-RU" sz="1200" b="1" dirty="0">
                <a:solidFill>
                  <a:srgbClr val="333333"/>
                </a:solidFill>
                <a:latin typeface="+mn-lt"/>
              </a:rPr>
              <a:t>Федеральное государственное бюджетное образовательное учреждение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ru-RU" sz="1200" b="1" dirty="0">
                <a:solidFill>
                  <a:srgbClr val="333333"/>
                </a:solidFill>
                <a:latin typeface="+mn-lt"/>
              </a:rPr>
              <a:t> высшего образования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ru-RU" sz="1200" b="1" dirty="0">
                <a:solidFill>
                  <a:srgbClr val="333333"/>
                </a:solidFill>
                <a:latin typeface="+mn-lt"/>
              </a:rPr>
              <a:t>«Уральский государственный лесотехнический университет»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ru-RU" sz="1200" b="1" dirty="0">
                <a:solidFill>
                  <a:srgbClr val="333333"/>
                </a:solidFill>
                <a:latin typeface="+mn-lt"/>
              </a:rPr>
              <a:t>Институт заочного обучения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ru-RU" altLang="ru-RU" sz="1200" b="1" dirty="0">
                <a:solidFill>
                  <a:srgbClr val="333333"/>
                </a:solidFill>
                <a:latin typeface="+mn-lt"/>
              </a:rPr>
              <a:t>Кафедра интеллектуальных систем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/>
          <p:nvPr/>
        </p:nvSpPr>
        <p:spPr>
          <a:xfrm>
            <a:off x="565496" y="1074404"/>
            <a:ext cx="4914902" cy="6637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dirty="0" err="1">
                <a:solidFill>
                  <a:srgbClr val="1A365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Центр</a:t>
            </a:r>
            <a:r>
              <a:rPr lang="en-US" b="1" dirty="0">
                <a:solidFill>
                  <a:srgbClr val="1A365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фулфилмента </a:t>
            </a:r>
            <a:r>
              <a:rPr lang="en-US" b="1" dirty="0" err="1">
                <a:solidFill>
                  <a:srgbClr val="1A365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Pofacty</a:t>
            </a:r>
            <a:r>
              <a:rPr lang="en-US" b="1" dirty="0">
                <a:solidFill>
                  <a:srgbClr val="1A365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Express </a:t>
            </a:r>
            <a:r>
              <a:rPr lang="en-US" sz="834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
</a:t>
            </a:r>
            <a:r>
              <a:rPr lang="en-US" sz="1200" b="1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ИП Гашков </a:t>
            </a:r>
            <a:r>
              <a:rPr lang="en-US" sz="1200" b="1" dirty="0" err="1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Андрей</a:t>
            </a:r>
            <a:r>
              <a:rPr lang="en-US" sz="1200" b="1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</a:t>
            </a:r>
            <a:r>
              <a:rPr lang="en-US" sz="1200" b="1" dirty="0" err="1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Сергеевич</a:t>
            </a:r>
            <a:endParaRPr lang="en-US" sz="784" b="1" dirty="0"/>
          </a:p>
        </p:txBody>
      </p:sp>
      <p:sp>
        <p:nvSpPr>
          <p:cNvPr id="6" name="Text 3"/>
          <p:cNvSpPr/>
          <p:nvPr/>
        </p:nvSpPr>
        <p:spPr>
          <a:xfrm>
            <a:off x="571500" y="1963397"/>
            <a:ext cx="4218549" cy="7181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A365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Основные направления:</a:t>
            </a:r>
            <a:r>
              <a:rPr lang="en-US" sz="1200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
Складское хранение, обработка заказов, комплектация товаров, доставка до конечного потребителя.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485" y="2930325"/>
            <a:ext cx="3786188" cy="351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A365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Работа с маркетплейсами:</a:t>
            </a:r>
            <a:r>
              <a:rPr lang="en-US" sz="1100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
Wildberries, Ozon, Яндекс Маркет.</a:t>
            </a:r>
            <a:endParaRPr lang="en-US" sz="105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21C66A5-12C6-464B-B877-7B2E8DF9388D}"/>
              </a:ext>
            </a:extLst>
          </p:cNvPr>
          <p:cNvSpPr txBox="1"/>
          <p:nvPr/>
        </p:nvSpPr>
        <p:spPr>
          <a:xfrm>
            <a:off x="4501662" y="1520658"/>
            <a:ext cx="4572000" cy="2096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1100" dirty="0">
                <a:solidFill>
                  <a:schemeClr val="accent1">
                    <a:lumMod val="50000"/>
                  </a:schemeClr>
                </a:solidFill>
                <a:latin typeface="Merriweather" pitchFamily="2" charset="0"/>
              </a:rPr>
              <a:t>Фулфилмент-центр — это комплекс логистических услуг, который берёт на себя всю работу с товарами для интернет-магазинов. Туда привозят товар от продавцов, его принимают, хранят, собирают заказы и отправляют покупателям. Сотрудники отслеживают остатки, оформляют продажи и контролируют доставку. По сути, это связующее звено между продавцом и клиентом, где важно быстро и точно обрабатывать все операции.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B3CA474E-859F-4EF9-998C-87A78857D2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494" y="3393641"/>
            <a:ext cx="3883855" cy="14067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6C375A8-8C3F-BA1D-AC3C-15C214BA59C6}"/>
              </a:ext>
            </a:extLst>
          </p:cNvPr>
          <p:cNvSpPr txBox="1"/>
          <p:nvPr/>
        </p:nvSpPr>
        <p:spPr>
          <a:xfrm>
            <a:off x="8651131" y="461572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71500" y="357188"/>
            <a:ext cx="4140557" cy="2970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200"/>
              </a:lnSpc>
            </a:pPr>
            <a:r>
              <a:rPr lang="ru-RU" sz="2000" b="1" dirty="0">
                <a:solidFill>
                  <a:srgbClr val="1A365D"/>
                </a:solidFill>
                <a:ea typeface="Inter" pitchFamily="34" charset="-122"/>
              </a:rPr>
              <a:t>А</a:t>
            </a:r>
            <a:r>
              <a:rPr lang="en-US" sz="2000" b="1" dirty="0" err="1">
                <a:solidFill>
                  <a:srgbClr val="1A365D"/>
                </a:solidFill>
                <a:latin typeface="Inter" pitchFamily="34" charset="0"/>
                <a:ea typeface="Inter" pitchFamily="34" charset="-122"/>
              </a:rPr>
              <a:t>ктуальность</a:t>
            </a:r>
            <a:r>
              <a:rPr lang="en-US" sz="2000" b="1" dirty="0">
                <a:solidFill>
                  <a:srgbClr val="1A365D"/>
                </a:solidFill>
                <a:latin typeface="Inter" pitchFamily="34" charset="0"/>
                <a:ea typeface="Inter" pitchFamily="34" charset="-122"/>
              </a:rPr>
              <a:t> </a:t>
            </a:r>
            <a:r>
              <a:rPr lang="en-US" sz="2000" b="1" dirty="0" err="1">
                <a:solidFill>
                  <a:srgbClr val="1A365D"/>
                </a:solidFill>
                <a:latin typeface="Inter" pitchFamily="34" charset="0"/>
                <a:ea typeface="Inter" pitchFamily="34" charset="-122"/>
              </a:rPr>
              <a:t>проекта</a:t>
            </a:r>
            <a:endParaRPr lang="en-US" sz="2000" b="1" dirty="0">
              <a:solidFill>
                <a:srgbClr val="1A365D"/>
              </a:solidFill>
              <a:latin typeface="Inter" pitchFamily="34" charset="0"/>
              <a:ea typeface="Inter" pitchFamily="34" charset="-122"/>
            </a:endParaRPr>
          </a:p>
        </p:txBody>
      </p:sp>
      <p:sp>
        <p:nvSpPr>
          <p:cNvPr id="8" name="Text 5"/>
          <p:cNvSpPr/>
          <p:nvPr/>
        </p:nvSpPr>
        <p:spPr>
          <a:xfrm>
            <a:off x="571500" y="1080492"/>
            <a:ext cx="378618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Проблемы текущего состояния</a:t>
            </a:r>
            <a:endParaRPr lang="en-US" sz="1193" dirty="0"/>
          </a:p>
        </p:txBody>
      </p:sp>
      <p:sp>
        <p:nvSpPr>
          <p:cNvPr id="9" name="Shape 6"/>
          <p:cNvSpPr/>
          <p:nvPr/>
        </p:nvSpPr>
        <p:spPr>
          <a:xfrm>
            <a:off x="636344" y="1439115"/>
            <a:ext cx="3821360" cy="1520256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 sz="3200"/>
          </a:p>
        </p:txBody>
      </p:sp>
      <p:sp>
        <p:nvSpPr>
          <p:cNvPr id="10" name="Shape 7"/>
          <p:cNvSpPr/>
          <p:nvPr/>
        </p:nvSpPr>
        <p:spPr>
          <a:xfrm flipH="1">
            <a:off x="590625" y="1439114"/>
            <a:ext cx="45719" cy="1520257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ru-RU" sz="3200"/>
          </a:p>
        </p:txBody>
      </p:sp>
      <p:sp>
        <p:nvSpPr>
          <p:cNvPr id="11" name="Text 8"/>
          <p:cNvSpPr/>
          <p:nvPr/>
        </p:nvSpPr>
        <p:spPr>
          <a:xfrm>
            <a:off x="814937" y="1617709"/>
            <a:ext cx="750205" cy="1411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50" b="1" dirty="0" err="1">
                <a:solidFill>
                  <a:srgbClr val="1A365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Уч</a:t>
            </a:r>
            <a:r>
              <a:rPr lang="ru-RU" sz="1050" b="1" dirty="0">
                <a:solidFill>
                  <a:srgbClr val="1A365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е</a:t>
            </a:r>
            <a:r>
              <a:rPr lang="en-US" sz="1050" b="1" dirty="0" err="1">
                <a:solidFill>
                  <a:srgbClr val="1A365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т</a:t>
            </a:r>
            <a:r>
              <a:rPr lang="en-US" sz="1050" b="1" dirty="0">
                <a:solidFill>
                  <a:srgbClr val="1A365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</a:t>
            </a:r>
            <a:r>
              <a:rPr lang="ru-RU" sz="1050" b="1" dirty="0">
                <a:solidFill>
                  <a:srgbClr val="1A365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услуг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200950" y="1617709"/>
            <a:ext cx="1256754" cy="1411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50" b="1" dirty="0">
                <a:solidFill>
                  <a:srgbClr val="E53E3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Ведётся вручную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14937" y="1910603"/>
            <a:ext cx="1433085" cy="1411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50" b="1" dirty="0">
                <a:solidFill>
                  <a:srgbClr val="1A365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Контроль доставки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584926" y="1910603"/>
            <a:ext cx="798295" cy="1411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50" b="1" dirty="0">
                <a:solidFill>
                  <a:srgbClr val="E53E3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Ограничен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14937" y="2203496"/>
            <a:ext cx="2245808" cy="1411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ru-RU" sz="1050" b="1" dirty="0">
                <a:solidFill>
                  <a:srgbClr val="1A365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Формирование актов и счетов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550603" y="2209992"/>
            <a:ext cx="883255" cy="1411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ru-RU" sz="1050" b="1" dirty="0">
                <a:solidFill>
                  <a:srgbClr val="E53E3E"/>
                </a:solidFill>
                <a:latin typeface="Merriweather" pitchFamily="34" charset="0"/>
              </a:rPr>
              <a:t>Ограничено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16068" y="3117568"/>
            <a:ext cx="3916329" cy="17177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ru-RU" sz="1100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Данные разрознены — нет единой точки доступа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16068" y="3364456"/>
            <a:ext cx="3263907" cy="17177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Высокая трудоёмкость ручных операций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16069" y="3607343"/>
            <a:ext cx="3838872" cy="351315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ru-RU" sz="1100" dirty="0">
                <a:solidFill>
                  <a:srgbClr val="2D3748"/>
                </a:solidFill>
                <a:latin typeface="Merriweather" pitchFamily="34" charset="0"/>
              </a:rPr>
              <a:t>Финансовые показатели доступны только после ручного сведения данных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16068" y="3150143"/>
            <a:ext cx="76944" cy="1292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00" dirty="0">
                <a:solidFill>
                  <a:srgbClr val="3182C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■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16068" y="3393031"/>
            <a:ext cx="76944" cy="1292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00" dirty="0">
                <a:solidFill>
                  <a:srgbClr val="3182C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■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16068" y="3635918"/>
            <a:ext cx="76944" cy="1292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000" dirty="0">
                <a:solidFill>
                  <a:srgbClr val="3182C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■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36344" y="3425078"/>
            <a:ext cx="65" cy="1300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endParaRPr lang="en-US" sz="1000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CBCF2AC-F881-445C-BB07-5D37DDF6B5A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1987"/>
          <a:stretch/>
        </p:blipFill>
        <p:spPr>
          <a:xfrm>
            <a:off x="4877754" y="724336"/>
            <a:ext cx="3853006" cy="2139572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A06A674C-C8EA-4C62-8CE7-ED7557269D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5105" y="2959373"/>
            <a:ext cx="1597530" cy="2021118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68A5C017-F176-48B1-AD1D-95A9DD587517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601593" y="3032182"/>
            <a:ext cx="2021118" cy="1875498"/>
          </a:xfrm>
          <a:prstGeom prst="rect">
            <a:avLst/>
          </a:prstGeom>
        </p:spPr>
      </p:pic>
      <p:sp>
        <p:nvSpPr>
          <p:cNvPr id="5" name="Text 8">
            <a:extLst>
              <a:ext uri="{FF2B5EF4-FFF2-40B4-BE49-F238E27FC236}">
                <a16:creationId xmlns:a16="http://schemas.microsoft.com/office/drawing/2014/main" id="{E246DCF7-61B3-674A-AD69-DC67B3313776}"/>
              </a:ext>
            </a:extLst>
          </p:cNvPr>
          <p:cNvSpPr/>
          <p:nvPr/>
        </p:nvSpPr>
        <p:spPr>
          <a:xfrm>
            <a:off x="814936" y="2473163"/>
            <a:ext cx="2604880" cy="1411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ru-RU" sz="1050" b="1" dirty="0">
                <a:solidFill>
                  <a:srgbClr val="1A365D"/>
                </a:solidFill>
                <a:latin typeface="Merriweather" pitchFamily="34" charset="0"/>
              </a:rPr>
              <a:t>Мониторинг показателей выручки</a:t>
            </a:r>
            <a:endParaRPr lang="en-US" sz="1050" dirty="0"/>
          </a:p>
        </p:txBody>
      </p:sp>
      <p:sp>
        <p:nvSpPr>
          <p:cNvPr id="6" name="Text 13">
            <a:extLst>
              <a:ext uri="{FF2B5EF4-FFF2-40B4-BE49-F238E27FC236}">
                <a16:creationId xmlns:a16="http://schemas.microsoft.com/office/drawing/2014/main" id="{046955C4-7FB0-25B6-5C18-0816DB8521AE}"/>
              </a:ext>
            </a:extLst>
          </p:cNvPr>
          <p:cNvSpPr/>
          <p:nvPr/>
        </p:nvSpPr>
        <p:spPr>
          <a:xfrm>
            <a:off x="3490272" y="2473163"/>
            <a:ext cx="908903" cy="1411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1050" b="1" dirty="0">
                <a:solidFill>
                  <a:srgbClr val="E53E3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Отсутствует</a:t>
            </a:r>
            <a:endParaRPr lang="en-US" sz="10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1DFBB9-C0A2-72E6-CE69-B5B4FDF18DF1}"/>
              </a:ext>
            </a:extLst>
          </p:cNvPr>
          <p:cNvSpPr txBox="1"/>
          <p:nvPr/>
        </p:nvSpPr>
        <p:spPr>
          <a:xfrm>
            <a:off x="8651131" y="461572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70723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6064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2965364" cy="2928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400" b="1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Цель и задачи работы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429518" y="1255513"/>
            <a:ext cx="8001000" cy="1411951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hape 2"/>
          <p:cNvSpPr/>
          <p:nvPr/>
        </p:nvSpPr>
        <p:spPr>
          <a:xfrm>
            <a:off x="429518" y="1255513"/>
            <a:ext cx="57150" cy="1411951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3"/>
          <p:cNvSpPr/>
          <p:nvPr/>
        </p:nvSpPr>
        <p:spPr>
          <a:xfrm>
            <a:off x="4571968" y="1469827"/>
            <a:ext cx="64" cy="170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57218" y="1440911"/>
            <a:ext cx="7429500" cy="11051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00"/>
              </a:lnSpc>
            </a:pPr>
            <a:r>
              <a:rPr lang="ru-RU" sz="1397" b="1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Целью работы является разработка кроссплатформенного мобильного приложения, обеспечивающего автоматизацию операционных процессов компании: мониторинг финансов и доставок, учёт услуг, формирование отчетности</a:t>
            </a:r>
            <a:endParaRPr lang="en-US" sz="1397" dirty="0"/>
          </a:p>
        </p:txBody>
      </p:sp>
      <p:sp>
        <p:nvSpPr>
          <p:cNvPr id="8" name="Text 5"/>
          <p:cNvSpPr/>
          <p:nvPr/>
        </p:nvSpPr>
        <p:spPr>
          <a:xfrm>
            <a:off x="571500" y="2881778"/>
            <a:ext cx="80010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Задачи исследования</a:t>
            </a:r>
            <a:endParaRPr lang="en-US" sz="1193" dirty="0"/>
          </a:p>
        </p:txBody>
      </p:sp>
      <p:sp>
        <p:nvSpPr>
          <p:cNvPr id="9" name="Shape 6"/>
          <p:cNvSpPr/>
          <p:nvPr/>
        </p:nvSpPr>
        <p:spPr>
          <a:xfrm>
            <a:off x="571500" y="3303259"/>
            <a:ext cx="2524116" cy="728663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7"/>
          <p:cNvSpPr/>
          <p:nvPr/>
        </p:nvSpPr>
        <p:spPr>
          <a:xfrm>
            <a:off x="571500" y="3303259"/>
            <a:ext cx="2524116" cy="28575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2759860" y="3278256"/>
            <a:ext cx="389334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436" dirty="0"/>
          </a:p>
        </p:txBody>
      </p:sp>
      <p:sp>
        <p:nvSpPr>
          <p:cNvPr id="12" name="Text 9"/>
          <p:cNvSpPr/>
          <p:nvPr/>
        </p:nvSpPr>
        <p:spPr>
          <a:xfrm>
            <a:off x="750094" y="3481853"/>
            <a:ext cx="216692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Анализ предметной области и требований заказчика</a:t>
            </a:r>
            <a:endParaRPr lang="en-US" sz="784" dirty="0"/>
          </a:p>
        </p:txBody>
      </p:sp>
      <p:sp>
        <p:nvSpPr>
          <p:cNvPr id="13" name="Shape 10"/>
          <p:cNvSpPr/>
          <p:nvPr/>
        </p:nvSpPr>
        <p:spPr>
          <a:xfrm>
            <a:off x="3309928" y="3303259"/>
            <a:ext cx="2524116" cy="728663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Shape 11"/>
          <p:cNvSpPr/>
          <p:nvPr/>
        </p:nvSpPr>
        <p:spPr>
          <a:xfrm>
            <a:off x="3309928" y="3303259"/>
            <a:ext cx="2524116" cy="28575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5436673" y="3260397"/>
            <a:ext cx="455414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2436" dirty="0"/>
          </a:p>
        </p:txBody>
      </p:sp>
      <p:sp>
        <p:nvSpPr>
          <p:cNvPr id="16" name="Text 13"/>
          <p:cNvSpPr/>
          <p:nvPr/>
        </p:nvSpPr>
        <p:spPr>
          <a:xfrm>
            <a:off x="3488522" y="3481853"/>
            <a:ext cx="216692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Проектирование архитектуры системы</a:t>
            </a:r>
            <a:endParaRPr lang="en-US" sz="784" dirty="0"/>
          </a:p>
        </p:txBody>
      </p:sp>
      <p:sp>
        <p:nvSpPr>
          <p:cNvPr id="17" name="Shape 14"/>
          <p:cNvSpPr/>
          <p:nvPr/>
        </p:nvSpPr>
        <p:spPr>
          <a:xfrm>
            <a:off x="6048356" y="3303259"/>
            <a:ext cx="2524144" cy="70008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Shape 15"/>
          <p:cNvSpPr/>
          <p:nvPr/>
        </p:nvSpPr>
        <p:spPr>
          <a:xfrm>
            <a:off x="6048356" y="3303259"/>
            <a:ext cx="2524144" cy="28575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9" name="Text 16"/>
          <p:cNvSpPr/>
          <p:nvPr/>
        </p:nvSpPr>
        <p:spPr>
          <a:xfrm>
            <a:off x="8199239" y="3278256"/>
            <a:ext cx="462558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436" dirty="0"/>
          </a:p>
        </p:txBody>
      </p:sp>
      <p:sp>
        <p:nvSpPr>
          <p:cNvPr id="20" name="Text 17"/>
          <p:cNvSpPr/>
          <p:nvPr/>
        </p:nvSpPr>
        <p:spPr>
          <a:xfrm>
            <a:off x="6226950" y="3481853"/>
            <a:ext cx="216695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Разработка базы данных</a:t>
            </a:r>
            <a:endParaRPr lang="en-US" sz="784" dirty="0"/>
          </a:p>
        </p:txBody>
      </p:sp>
      <p:sp>
        <p:nvSpPr>
          <p:cNvPr id="21" name="Shape 18"/>
          <p:cNvSpPr/>
          <p:nvPr/>
        </p:nvSpPr>
        <p:spPr>
          <a:xfrm>
            <a:off x="571500" y="4217659"/>
            <a:ext cx="2524116" cy="728663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Shape 19"/>
          <p:cNvSpPr/>
          <p:nvPr/>
        </p:nvSpPr>
        <p:spPr>
          <a:xfrm>
            <a:off x="571500" y="4217659"/>
            <a:ext cx="2524116" cy="28575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20"/>
          <p:cNvSpPr/>
          <p:nvPr/>
        </p:nvSpPr>
        <p:spPr>
          <a:xfrm>
            <a:off x="2689316" y="4160181"/>
            <a:ext cx="473273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2436" dirty="0"/>
          </a:p>
        </p:txBody>
      </p:sp>
      <p:sp>
        <p:nvSpPr>
          <p:cNvPr id="24" name="Text 21"/>
          <p:cNvSpPr/>
          <p:nvPr/>
        </p:nvSpPr>
        <p:spPr>
          <a:xfrm>
            <a:off x="750094" y="4396253"/>
            <a:ext cx="216692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Реализация мобильного приложения</a:t>
            </a:r>
            <a:endParaRPr lang="en-US" sz="784" dirty="0"/>
          </a:p>
        </p:txBody>
      </p:sp>
      <p:sp>
        <p:nvSpPr>
          <p:cNvPr id="25" name="Shape 22"/>
          <p:cNvSpPr/>
          <p:nvPr/>
        </p:nvSpPr>
        <p:spPr>
          <a:xfrm>
            <a:off x="3309928" y="4217659"/>
            <a:ext cx="2524116" cy="728663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6" name="Shape 23"/>
          <p:cNvSpPr/>
          <p:nvPr/>
        </p:nvSpPr>
        <p:spPr>
          <a:xfrm>
            <a:off x="3309928" y="4217659"/>
            <a:ext cx="2524116" cy="28575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4"/>
          <p:cNvSpPr/>
          <p:nvPr/>
        </p:nvSpPr>
        <p:spPr>
          <a:xfrm>
            <a:off x="5450446" y="4167652"/>
            <a:ext cx="455414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2436" dirty="0"/>
          </a:p>
        </p:txBody>
      </p:sp>
      <p:sp>
        <p:nvSpPr>
          <p:cNvPr id="28" name="Text 25"/>
          <p:cNvSpPr/>
          <p:nvPr/>
        </p:nvSpPr>
        <p:spPr>
          <a:xfrm>
            <a:off x="3488522" y="4396253"/>
            <a:ext cx="216692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Тестирование системы</a:t>
            </a:r>
            <a:endParaRPr lang="en-US" sz="784" dirty="0"/>
          </a:p>
        </p:txBody>
      </p:sp>
      <p:sp>
        <p:nvSpPr>
          <p:cNvPr id="29" name="Shape 26"/>
          <p:cNvSpPr/>
          <p:nvPr/>
        </p:nvSpPr>
        <p:spPr>
          <a:xfrm>
            <a:off x="6048356" y="4217659"/>
            <a:ext cx="2524144" cy="728663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0" name="Shape 27"/>
          <p:cNvSpPr/>
          <p:nvPr/>
        </p:nvSpPr>
        <p:spPr>
          <a:xfrm>
            <a:off x="6048356" y="4217659"/>
            <a:ext cx="2524144" cy="28575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1" name="Text 28"/>
          <p:cNvSpPr/>
          <p:nvPr/>
        </p:nvSpPr>
        <p:spPr>
          <a:xfrm>
            <a:off x="8161734" y="4217659"/>
            <a:ext cx="464344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2436" dirty="0"/>
          </a:p>
        </p:txBody>
      </p:sp>
      <p:sp>
        <p:nvSpPr>
          <p:cNvPr id="32" name="Text 29"/>
          <p:cNvSpPr/>
          <p:nvPr/>
        </p:nvSpPr>
        <p:spPr>
          <a:xfrm>
            <a:off x="6226950" y="4396253"/>
            <a:ext cx="21669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Экономическая оценка эффективности</a:t>
            </a:r>
            <a:endParaRPr lang="en-US" sz="784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15C2511-D10D-5C11-214E-C897D16D9DEB}"/>
              </a:ext>
            </a:extLst>
          </p:cNvPr>
          <p:cNvSpPr txBox="1"/>
          <p:nvPr/>
        </p:nvSpPr>
        <p:spPr>
          <a:xfrm>
            <a:off x="8707407" y="473915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7113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3912268" cy="2821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200"/>
              </a:lnSpc>
            </a:pPr>
            <a:r>
              <a:rPr lang="ru-RU" sz="2000" b="1" dirty="0">
                <a:solidFill>
                  <a:srgbClr val="1A365D"/>
                </a:solidFill>
                <a:ea typeface="Inter" pitchFamily="34" charset="-122"/>
              </a:rPr>
              <a:t>Модель «Как было»</a:t>
            </a:r>
            <a:endParaRPr lang="en-US" sz="2000" b="1" dirty="0">
              <a:solidFill>
                <a:srgbClr val="1A365D"/>
              </a:solidFill>
              <a:latin typeface="Inter" pitchFamily="34" charset="0"/>
              <a:ea typeface="Inter" pitchFamily="34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A73652-8BAF-B757-FF07-BC0890C034A8}"/>
              </a:ext>
            </a:extLst>
          </p:cNvPr>
          <p:cNvSpPr txBox="1"/>
          <p:nvPr/>
        </p:nvSpPr>
        <p:spPr>
          <a:xfrm>
            <a:off x="8707407" y="473915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5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B4805DF-E3FB-F7DD-548C-10D772EAA1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526" y="1203392"/>
            <a:ext cx="4267156" cy="26163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EB07020-0F5E-A581-D8E2-4296AC1A2FFE}"/>
              </a:ext>
            </a:extLst>
          </p:cNvPr>
          <p:cNvSpPr txBox="1"/>
          <p:nvPr/>
        </p:nvSpPr>
        <p:spPr>
          <a:xfrm>
            <a:off x="5252937" y="1203392"/>
            <a:ext cx="3605314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dirty="0">
                <a:solidFill>
                  <a:schemeClr val="accent1">
                    <a:lumMod val="50000"/>
                  </a:schemeClr>
                </a:solidFill>
                <a:latin typeface="Merriweather" pitchFamily="2" charset="0"/>
              </a:rPr>
              <a:t>Постановка задач курьеру происходит устно или через мессенджеры</a:t>
            </a:r>
          </a:p>
          <a:p>
            <a:endParaRPr lang="ru-RU" sz="1100" dirty="0">
              <a:solidFill>
                <a:schemeClr val="accent1">
                  <a:lumMod val="50000"/>
                </a:schemeClr>
              </a:solidFill>
              <a:latin typeface="Merriweather" pitchFamily="2" charset="0"/>
            </a:endParaRPr>
          </a:p>
          <a:p>
            <a:r>
              <a:rPr lang="ru-RU" sz="1100" dirty="0">
                <a:solidFill>
                  <a:schemeClr val="accent1">
                    <a:lumMod val="50000"/>
                  </a:schemeClr>
                </a:solidFill>
                <a:latin typeface="Merriweather" pitchFamily="2" charset="0"/>
              </a:rPr>
              <a:t>Учёт доставок и финансов ведётся вручную</a:t>
            </a:r>
          </a:p>
          <a:p>
            <a:endParaRPr lang="ru-RU" sz="1100" dirty="0">
              <a:solidFill>
                <a:schemeClr val="accent1">
                  <a:lumMod val="50000"/>
                </a:schemeClr>
              </a:solidFill>
              <a:latin typeface="Merriweather" pitchFamily="2" charset="0"/>
            </a:endParaRPr>
          </a:p>
          <a:p>
            <a:r>
              <a:rPr lang="ru-RU" sz="1100" dirty="0">
                <a:solidFill>
                  <a:schemeClr val="accent1">
                    <a:lumMod val="50000"/>
                  </a:schemeClr>
                </a:solidFill>
                <a:latin typeface="Merriweather" pitchFamily="2" charset="0"/>
              </a:rPr>
              <a:t>Формирование закрывающих документов (актов, счетов) требует временных затрат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6A166F-DE1B-9CA9-FB9E-191CFC31CBA2}"/>
              </a:ext>
            </a:extLst>
          </p:cNvPr>
          <p:cNvSpPr txBox="1"/>
          <p:nvPr/>
        </p:nvSpPr>
        <p:spPr>
          <a:xfrm>
            <a:off x="5131341" y="1249390"/>
            <a:ext cx="243191" cy="22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100" dirty="0">
                <a:solidFill>
                  <a:srgbClr val="3182C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■</a:t>
            </a:r>
            <a:endParaRPr lang="en-US" sz="11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E4835D-E52B-6511-F020-529695D9384A}"/>
              </a:ext>
            </a:extLst>
          </p:cNvPr>
          <p:cNvSpPr txBox="1"/>
          <p:nvPr/>
        </p:nvSpPr>
        <p:spPr>
          <a:xfrm>
            <a:off x="5131338" y="2074998"/>
            <a:ext cx="243191" cy="22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100" dirty="0">
                <a:solidFill>
                  <a:srgbClr val="3182C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■</a:t>
            </a:r>
            <a:endParaRPr lang="en-US" sz="11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44FCB9-D309-0FAB-F28A-A4B8A93A031B}"/>
              </a:ext>
            </a:extLst>
          </p:cNvPr>
          <p:cNvSpPr txBox="1"/>
          <p:nvPr/>
        </p:nvSpPr>
        <p:spPr>
          <a:xfrm>
            <a:off x="5131339" y="1724861"/>
            <a:ext cx="243191" cy="22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100" dirty="0">
                <a:solidFill>
                  <a:srgbClr val="3182C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■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516729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2038070E-140E-255C-E578-A05D81AD6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49" y="0"/>
            <a:ext cx="9144000" cy="5143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DED1809-4964-68E3-2034-FE1657458347}"/>
              </a:ext>
            </a:extLst>
          </p:cNvPr>
          <p:cNvSpPr txBox="1"/>
          <p:nvPr/>
        </p:nvSpPr>
        <p:spPr>
          <a:xfrm>
            <a:off x="541507" y="386825"/>
            <a:ext cx="4623880" cy="364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ru-RU" sz="1800" b="1" dirty="0">
                <a:solidFill>
                  <a:srgbClr val="1A365D"/>
                </a:solidFill>
                <a:ea typeface="Inter" pitchFamily="34" charset="-122"/>
              </a:rPr>
              <a:t>Модель «Как есть»</a:t>
            </a:r>
            <a:endParaRPr lang="en-US" sz="1800" b="1" dirty="0">
              <a:solidFill>
                <a:srgbClr val="1A365D"/>
              </a:solidFill>
              <a:latin typeface="Inter" pitchFamily="34" charset="0"/>
              <a:ea typeface="Inter" pitchFamily="34" charset="-122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FE4155-F0FF-68E5-0331-B32EF374A79D}"/>
              </a:ext>
            </a:extLst>
          </p:cNvPr>
          <p:cNvSpPr txBox="1"/>
          <p:nvPr/>
        </p:nvSpPr>
        <p:spPr>
          <a:xfrm>
            <a:off x="5600287" y="1440983"/>
            <a:ext cx="321600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dirty="0">
                <a:solidFill>
                  <a:schemeClr val="accent1">
                    <a:lumMod val="50000"/>
                  </a:schemeClr>
                </a:solidFill>
                <a:latin typeface="Merriweather" pitchFamily="2" charset="0"/>
              </a:rPr>
              <a:t>Задания курьерам создаются в приложении </a:t>
            </a:r>
          </a:p>
          <a:p>
            <a:endParaRPr lang="ru-RU" sz="1100" dirty="0">
              <a:solidFill>
                <a:schemeClr val="accent1">
                  <a:lumMod val="50000"/>
                </a:schemeClr>
              </a:solidFill>
              <a:latin typeface="Merriweather" pitchFamily="2" charset="0"/>
            </a:endParaRPr>
          </a:p>
          <a:p>
            <a:r>
              <a:rPr lang="ru-RU" sz="1100" dirty="0">
                <a:solidFill>
                  <a:schemeClr val="accent1">
                    <a:lumMod val="50000"/>
                  </a:schemeClr>
                </a:solidFill>
                <a:latin typeface="Merriweather" pitchFamily="2" charset="0"/>
              </a:rPr>
              <a:t>Статусы доставок отслеживаются онлайн</a:t>
            </a:r>
          </a:p>
          <a:p>
            <a:endParaRPr lang="ru-RU" sz="1100" dirty="0">
              <a:solidFill>
                <a:schemeClr val="accent1">
                  <a:lumMod val="50000"/>
                </a:schemeClr>
              </a:solidFill>
              <a:latin typeface="Merriweather" pitchFamily="2" charset="0"/>
            </a:endParaRPr>
          </a:p>
          <a:p>
            <a:r>
              <a:rPr lang="ru-RU" sz="1100" dirty="0">
                <a:solidFill>
                  <a:schemeClr val="accent1">
                    <a:lumMod val="50000"/>
                  </a:schemeClr>
                </a:solidFill>
                <a:latin typeface="Merriweather" pitchFamily="2" charset="0"/>
              </a:rPr>
              <a:t>Акты отгрузки и счета формируются в один клик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F050347-A76D-3795-0DB7-734DB7D340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674" y="881154"/>
            <a:ext cx="4358396" cy="32785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67287F8-0896-5D4B-F0D5-6FAE6F285B29}"/>
              </a:ext>
            </a:extLst>
          </p:cNvPr>
          <p:cNvSpPr txBox="1"/>
          <p:nvPr/>
        </p:nvSpPr>
        <p:spPr>
          <a:xfrm>
            <a:off x="5444249" y="1440983"/>
            <a:ext cx="243191" cy="22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100" dirty="0">
                <a:solidFill>
                  <a:srgbClr val="3182C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■</a:t>
            </a:r>
            <a:endParaRPr lang="en-US" sz="11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BF1418-CE97-6B4F-1296-8C94BC81441D}"/>
              </a:ext>
            </a:extLst>
          </p:cNvPr>
          <p:cNvSpPr txBox="1"/>
          <p:nvPr/>
        </p:nvSpPr>
        <p:spPr>
          <a:xfrm>
            <a:off x="5453408" y="1959048"/>
            <a:ext cx="243191" cy="22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100" dirty="0">
                <a:solidFill>
                  <a:srgbClr val="3182C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■</a:t>
            </a:r>
            <a:endParaRPr lang="en-US" sz="11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C05F3D-66AE-8284-0931-113F518C9822}"/>
              </a:ext>
            </a:extLst>
          </p:cNvPr>
          <p:cNvSpPr txBox="1"/>
          <p:nvPr/>
        </p:nvSpPr>
        <p:spPr>
          <a:xfrm>
            <a:off x="5453407" y="2477113"/>
            <a:ext cx="243191" cy="224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1100" dirty="0">
                <a:solidFill>
                  <a:srgbClr val="3182C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■</a:t>
            </a:r>
            <a:endParaRPr lang="en-US" sz="11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62B76D-8272-9C3E-70BF-88117A629424}"/>
              </a:ext>
            </a:extLst>
          </p:cNvPr>
          <p:cNvSpPr txBox="1"/>
          <p:nvPr/>
        </p:nvSpPr>
        <p:spPr>
          <a:xfrm>
            <a:off x="8779047" y="4698773"/>
            <a:ext cx="3118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564227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4904163" cy="2905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200"/>
              </a:lnSpc>
            </a:pPr>
            <a:r>
              <a:rPr lang="en-US" sz="2000" b="1" dirty="0">
                <a:solidFill>
                  <a:srgbClr val="1A365D"/>
                </a:solidFill>
                <a:latin typeface="Inter" pitchFamily="34" charset="0"/>
                <a:ea typeface="Inter" pitchFamily="34" charset="-122"/>
              </a:rPr>
              <a:t>Архитектура и </a:t>
            </a:r>
            <a:r>
              <a:rPr lang="en-US" sz="2000" b="1" dirty="0" err="1">
                <a:solidFill>
                  <a:srgbClr val="1A365D"/>
                </a:solidFill>
                <a:latin typeface="Inter" pitchFamily="34" charset="0"/>
                <a:ea typeface="Inter" pitchFamily="34" charset="-122"/>
              </a:rPr>
              <a:t>технологический</a:t>
            </a:r>
            <a:r>
              <a:rPr lang="en-US" sz="2000" b="1" dirty="0">
                <a:solidFill>
                  <a:srgbClr val="1A365D"/>
                </a:solidFill>
                <a:latin typeface="Inter" pitchFamily="34" charset="0"/>
                <a:ea typeface="Inter" pitchFamily="34" charset="-122"/>
              </a:rPr>
              <a:t> </a:t>
            </a:r>
            <a:r>
              <a:rPr lang="en-US" sz="2000" b="1" dirty="0" err="1">
                <a:solidFill>
                  <a:srgbClr val="1A365D"/>
                </a:solidFill>
                <a:latin typeface="Inter" pitchFamily="34" charset="0"/>
                <a:ea typeface="Inter" pitchFamily="34" charset="-122"/>
              </a:rPr>
              <a:t>стек</a:t>
            </a:r>
            <a:endParaRPr lang="en-US" sz="2000" b="1" dirty="0">
              <a:solidFill>
                <a:srgbClr val="1A365D"/>
              </a:solidFill>
              <a:latin typeface="Inter" pitchFamily="34" charset="0"/>
              <a:ea typeface="Inter" pitchFamily="34" charset="-122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51562" y="921160"/>
            <a:ext cx="2524116" cy="128587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Shape 3"/>
          <p:cNvSpPr/>
          <p:nvPr/>
        </p:nvSpPr>
        <p:spPr>
          <a:xfrm>
            <a:off x="551562" y="921160"/>
            <a:ext cx="2524116" cy="42863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4"/>
          <p:cNvSpPr/>
          <p:nvPr/>
        </p:nvSpPr>
        <p:spPr>
          <a:xfrm>
            <a:off x="765875" y="1209952"/>
            <a:ext cx="209549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kern="0" spc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МОБИЛЬНОЕ ПРИЛОЖЕНИЕ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765875" y="1436766"/>
            <a:ext cx="209549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365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React Native (Expo)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765875" y="1758235"/>
            <a:ext cx="2095491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834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Разработка для iOS и Android</a:t>
            </a:r>
            <a:endParaRPr lang="en-US" sz="834" dirty="0"/>
          </a:p>
        </p:txBody>
      </p:sp>
      <p:sp>
        <p:nvSpPr>
          <p:cNvPr id="10" name="Shape 7"/>
          <p:cNvSpPr/>
          <p:nvPr/>
        </p:nvSpPr>
        <p:spPr>
          <a:xfrm>
            <a:off x="3289990" y="921160"/>
            <a:ext cx="2524116" cy="128587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Shape 8"/>
          <p:cNvSpPr/>
          <p:nvPr/>
        </p:nvSpPr>
        <p:spPr>
          <a:xfrm>
            <a:off x="3289990" y="921160"/>
            <a:ext cx="2524116" cy="42863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9"/>
          <p:cNvSpPr/>
          <p:nvPr/>
        </p:nvSpPr>
        <p:spPr>
          <a:xfrm>
            <a:off x="3504303" y="1209952"/>
            <a:ext cx="209549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kern="0" spc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БАЗА ДАННЫХ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3504303" y="1436766"/>
            <a:ext cx="209549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365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Firebase Firestore</a:t>
            </a:r>
            <a:endParaRPr lang="en-US" sz="1193" dirty="0"/>
          </a:p>
        </p:txBody>
      </p:sp>
      <p:sp>
        <p:nvSpPr>
          <p:cNvPr id="14" name="Text 11"/>
          <p:cNvSpPr/>
          <p:nvPr/>
        </p:nvSpPr>
        <p:spPr>
          <a:xfrm>
            <a:off x="3504303" y="1758235"/>
            <a:ext cx="2095491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834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Облачное хранение NoSQL</a:t>
            </a:r>
            <a:endParaRPr lang="en-US" sz="834" dirty="0"/>
          </a:p>
        </p:txBody>
      </p:sp>
      <p:sp>
        <p:nvSpPr>
          <p:cNvPr id="15" name="Shape 12"/>
          <p:cNvSpPr/>
          <p:nvPr/>
        </p:nvSpPr>
        <p:spPr>
          <a:xfrm>
            <a:off x="6028418" y="921160"/>
            <a:ext cx="2524144" cy="1285875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Shape 13"/>
          <p:cNvSpPr/>
          <p:nvPr/>
        </p:nvSpPr>
        <p:spPr>
          <a:xfrm>
            <a:off x="6028418" y="921160"/>
            <a:ext cx="2524144" cy="42863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4"/>
          <p:cNvSpPr/>
          <p:nvPr/>
        </p:nvSpPr>
        <p:spPr>
          <a:xfrm>
            <a:off x="6242731" y="1209952"/>
            <a:ext cx="209551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kern="0" spc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АВТОРИЗАЦИЯ</a:t>
            </a:r>
            <a:endParaRPr lang="en-US" sz="885" dirty="0"/>
          </a:p>
        </p:txBody>
      </p:sp>
      <p:sp>
        <p:nvSpPr>
          <p:cNvPr id="18" name="Text 15"/>
          <p:cNvSpPr/>
          <p:nvPr/>
        </p:nvSpPr>
        <p:spPr>
          <a:xfrm>
            <a:off x="6242731" y="1436766"/>
            <a:ext cx="209551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365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Firebase Auth</a:t>
            </a:r>
            <a:endParaRPr lang="en-US" sz="1193" dirty="0"/>
          </a:p>
        </p:txBody>
      </p:sp>
      <p:sp>
        <p:nvSpPr>
          <p:cNvPr id="19" name="Text 16"/>
          <p:cNvSpPr/>
          <p:nvPr/>
        </p:nvSpPr>
        <p:spPr>
          <a:xfrm>
            <a:off x="6242731" y="1758235"/>
            <a:ext cx="2095519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834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Управление доступом</a:t>
            </a:r>
            <a:endParaRPr lang="en-US" sz="834" dirty="0"/>
          </a:p>
        </p:txBody>
      </p:sp>
      <p:sp>
        <p:nvSpPr>
          <p:cNvPr id="21" name="Shape 18"/>
          <p:cNvSpPr/>
          <p:nvPr/>
        </p:nvSpPr>
        <p:spPr>
          <a:xfrm>
            <a:off x="551562" y="2350034"/>
            <a:ext cx="2524116" cy="962620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Shape 19"/>
          <p:cNvSpPr/>
          <p:nvPr/>
        </p:nvSpPr>
        <p:spPr>
          <a:xfrm>
            <a:off x="551562" y="2350034"/>
            <a:ext cx="28575" cy="962620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20"/>
          <p:cNvSpPr/>
          <p:nvPr/>
        </p:nvSpPr>
        <p:spPr>
          <a:xfrm>
            <a:off x="694437" y="2492909"/>
            <a:ext cx="223836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Работа в реальном времени</a:t>
            </a:r>
            <a:endParaRPr lang="en-US" sz="885" dirty="0"/>
          </a:p>
        </p:txBody>
      </p:sp>
      <p:sp>
        <p:nvSpPr>
          <p:cNvPr id="24" name="Text 21"/>
          <p:cNvSpPr/>
          <p:nvPr/>
        </p:nvSpPr>
        <p:spPr>
          <a:xfrm>
            <a:off x="694437" y="2719723"/>
            <a:ext cx="2238366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Мгновенная синхронизация данных между всеми устройствами пользователей.</a:t>
            </a:r>
            <a:endParaRPr lang="en-US" sz="727" dirty="0"/>
          </a:p>
        </p:txBody>
      </p:sp>
      <p:sp>
        <p:nvSpPr>
          <p:cNvPr id="25" name="Shape 22"/>
          <p:cNvSpPr/>
          <p:nvPr/>
        </p:nvSpPr>
        <p:spPr>
          <a:xfrm>
            <a:off x="3289990" y="2350034"/>
            <a:ext cx="2524116" cy="962620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6" name="Shape 23"/>
          <p:cNvSpPr/>
          <p:nvPr/>
        </p:nvSpPr>
        <p:spPr>
          <a:xfrm>
            <a:off x="3289990" y="2350034"/>
            <a:ext cx="28575" cy="962620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4"/>
          <p:cNvSpPr/>
          <p:nvPr/>
        </p:nvSpPr>
        <p:spPr>
          <a:xfrm>
            <a:off x="3432865" y="2492909"/>
            <a:ext cx="223836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Кроссплатформенность</a:t>
            </a:r>
            <a:endParaRPr lang="en-US" sz="885" dirty="0"/>
          </a:p>
        </p:txBody>
      </p:sp>
      <p:sp>
        <p:nvSpPr>
          <p:cNvPr id="28" name="Text 25"/>
          <p:cNvSpPr/>
          <p:nvPr/>
        </p:nvSpPr>
        <p:spPr>
          <a:xfrm>
            <a:off x="3432865" y="2719723"/>
            <a:ext cx="2238366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Единая кодовая база для платформ iOS и Android снижает затраты на разработку.</a:t>
            </a:r>
            <a:endParaRPr lang="en-US" sz="727" dirty="0"/>
          </a:p>
        </p:txBody>
      </p:sp>
      <p:sp>
        <p:nvSpPr>
          <p:cNvPr id="29" name="Shape 26"/>
          <p:cNvSpPr/>
          <p:nvPr/>
        </p:nvSpPr>
        <p:spPr>
          <a:xfrm>
            <a:off x="6028418" y="2350034"/>
            <a:ext cx="2524144" cy="962620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0" name="Shape 27"/>
          <p:cNvSpPr/>
          <p:nvPr/>
        </p:nvSpPr>
        <p:spPr>
          <a:xfrm>
            <a:off x="6028418" y="2350034"/>
            <a:ext cx="28575" cy="962620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1" name="Text 28"/>
          <p:cNvSpPr/>
          <p:nvPr/>
        </p:nvSpPr>
        <p:spPr>
          <a:xfrm>
            <a:off x="6171293" y="2492909"/>
            <a:ext cx="223839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Облачная архитектура</a:t>
            </a:r>
            <a:endParaRPr lang="en-US" sz="885" dirty="0"/>
          </a:p>
        </p:txBody>
      </p:sp>
      <p:sp>
        <p:nvSpPr>
          <p:cNvPr id="32" name="Text 29"/>
          <p:cNvSpPr/>
          <p:nvPr/>
        </p:nvSpPr>
        <p:spPr>
          <a:xfrm>
            <a:off x="6171293" y="2719723"/>
            <a:ext cx="2238394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Высокая масштабируемость, надёжность и отсутствие необходимости в собственных серверах.</a:t>
            </a:r>
            <a:endParaRPr lang="en-US" sz="727" dirty="0"/>
          </a:p>
        </p:txBody>
      </p:sp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02B4389D-BAE6-4641-9A06-4B1B7FA6F8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438" y="3455529"/>
            <a:ext cx="2341365" cy="1518950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ECD55E06-839C-4333-B2D9-85DCACC08BE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377" t="15625" r="9019"/>
          <a:stretch/>
        </p:blipFill>
        <p:spPr>
          <a:xfrm>
            <a:off x="3289990" y="3524870"/>
            <a:ext cx="2724141" cy="1343824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B72918E3-F0C8-490C-A62D-14D8530A78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1305" y="3465766"/>
            <a:ext cx="2257426" cy="150871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3B7DA26-6999-CE5A-3B19-34C7BB9AE795}"/>
              </a:ext>
            </a:extLst>
          </p:cNvPr>
          <p:cNvSpPr txBox="1"/>
          <p:nvPr/>
        </p:nvSpPr>
        <p:spPr>
          <a:xfrm>
            <a:off x="8707407" y="473915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85750" y="55364"/>
            <a:ext cx="9429750" cy="530423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200"/>
              </a:lnSpc>
            </a:pPr>
            <a:r>
              <a:rPr lang="en-US" sz="2400" b="1" dirty="0">
                <a:solidFill>
                  <a:srgbClr val="1A365D"/>
                </a:solidFill>
                <a:latin typeface="Inter" pitchFamily="34" charset="0"/>
                <a:ea typeface="Inter" pitchFamily="34" charset="-122"/>
              </a:rPr>
              <a:t>Логическая </a:t>
            </a:r>
            <a:r>
              <a:rPr lang="en-US" sz="2400" b="1" dirty="0" err="1">
                <a:solidFill>
                  <a:srgbClr val="1A365D"/>
                </a:solidFill>
                <a:latin typeface="Inter" pitchFamily="34" charset="0"/>
                <a:ea typeface="Inter" pitchFamily="34" charset="-122"/>
              </a:rPr>
              <a:t>модель</a:t>
            </a:r>
            <a:r>
              <a:rPr lang="en-US" sz="2400" b="1" dirty="0">
                <a:solidFill>
                  <a:srgbClr val="1A365D"/>
                </a:solidFill>
                <a:latin typeface="Inter" pitchFamily="34" charset="0"/>
                <a:ea typeface="Inter" pitchFamily="34" charset="-122"/>
              </a:rPr>
              <a:t> </a:t>
            </a:r>
            <a:r>
              <a:rPr lang="en-US" sz="2400" b="1" dirty="0" err="1">
                <a:solidFill>
                  <a:srgbClr val="1A365D"/>
                </a:solidFill>
                <a:latin typeface="Inter" pitchFamily="34" charset="0"/>
                <a:ea typeface="Inter" pitchFamily="34" charset="-122"/>
              </a:rPr>
              <a:t>данных</a:t>
            </a:r>
            <a:endParaRPr lang="en-US" sz="2400" b="1" dirty="0">
              <a:solidFill>
                <a:srgbClr val="1A365D"/>
              </a:solidFill>
              <a:latin typeface="Inter" pitchFamily="34" charset="0"/>
              <a:ea typeface="Inter" pitchFamily="34" charset="-122"/>
            </a:endParaRPr>
          </a:p>
        </p:txBody>
      </p:sp>
      <p:sp>
        <p:nvSpPr>
          <p:cNvPr id="4" name="Text 1"/>
          <p:cNvSpPr/>
          <p:nvPr/>
        </p:nvSpPr>
        <p:spPr>
          <a:xfrm>
            <a:off x="571500" y="1126927"/>
            <a:ext cx="454342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Коллекции Firebase Firestore</a:t>
            </a:r>
            <a:endParaRPr lang="en-US" sz="1193" dirty="0"/>
          </a:p>
        </p:txBody>
      </p:sp>
      <p:sp>
        <p:nvSpPr>
          <p:cNvPr id="5" name="Shape 2"/>
          <p:cNvSpPr/>
          <p:nvPr/>
        </p:nvSpPr>
        <p:spPr>
          <a:xfrm>
            <a:off x="571500" y="1512689"/>
            <a:ext cx="4543425" cy="51435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Shape 3"/>
          <p:cNvSpPr/>
          <p:nvPr/>
        </p:nvSpPr>
        <p:spPr>
          <a:xfrm>
            <a:off x="571500" y="1512689"/>
            <a:ext cx="28575" cy="51435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Shape 4"/>
          <p:cNvSpPr/>
          <p:nvPr/>
        </p:nvSpPr>
        <p:spPr>
          <a:xfrm>
            <a:off x="571500" y="1512689"/>
            <a:ext cx="1514475" cy="514350"/>
          </a:xfrm>
          <a:prstGeom prst="rect">
            <a:avLst/>
          </a:prstGeom>
          <a:solidFill>
            <a:srgbClr val="3182CE">
              <a:alpha val="1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Text 5"/>
          <p:cNvSpPr/>
          <p:nvPr/>
        </p:nvSpPr>
        <p:spPr>
          <a:xfrm>
            <a:off x="571500" y="1512689"/>
            <a:ext cx="1514475" cy="514350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2085975" y="1512689"/>
            <a:ext cx="3028950" cy="408638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Пользователи и </a:t>
            </a:r>
            <a:r>
              <a:rPr lang="en-US" sz="834" dirty="0" err="1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роли</a:t>
            </a:r>
            <a:r>
              <a:rPr lang="en-US" sz="834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(</a:t>
            </a:r>
            <a:r>
              <a:rPr lang="ru-RU" sz="834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менеджер</a:t>
            </a:r>
            <a:r>
              <a:rPr lang="en-US" sz="834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, </a:t>
            </a:r>
            <a:r>
              <a:rPr lang="ru-RU" sz="834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курьер</a:t>
            </a:r>
            <a:r>
              <a:rPr lang="en-US" sz="834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)</a:t>
            </a:r>
            <a:endParaRPr lang="en-US" sz="834" dirty="0"/>
          </a:p>
        </p:txBody>
      </p:sp>
      <p:sp>
        <p:nvSpPr>
          <p:cNvPr id="10" name="Shape 7"/>
          <p:cNvSpPr/>
          <p:nvPr/>
        </p:nvSpPr>
        <p:spPr>
          <a:xfrm>
            <a:off x="571500" y="2112764"/>
            <a:ext cx="4543425" cy="51435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Shape 8"/>
          <p:cNvSpPr/>
          <p:nvPr/>
        </p:nvSpPr>
        <p:spPr>
          <a:xfrm>
            <a:off x="571500" y="2112764"/>
            <a:ext cx="28575" cy="51435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Shape 9"/>
          <p:cNvSpPr/>
          <p:nvPr/>
        </p:nvSpPr>
        <p:spPr>
          <a:xfrm>
            <a:off x="571500" y="2112764"/>
            <a:ext cx="1514475" cy="514350"/>
          </a:xfrm>
          <a:prstGeom prst="rect">
            <a:avLst/>
          </a:prstGeom>
          <a:solidFill>
            <a:srgbClr val="3182CE">
              <a:alpha val="1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571500" y="2112764"/>
            <a:ext cx="1514475" cy="514350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</a:t>
            </a:r>
            <a:endParaRPr lang="en-US" sz="885" dirty="0"/>
          </a:p>
        </p:txBody>
      </p:sp>
      <p:sp>
        <p:nvSpPr>
          <p:cNvPr id="14" name="Text 11"/>
          <p:cNvSpPr/>
          <p:nvPr/>
        </p:nvSpPr>
        <p:spPr>
          <a:xfrm>
            <a:off x="2085975" y="2112764"/>
            <a:ext cx="3028950" cy="549702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ru-RU" sz="834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Услуги, предоставляемые Центром фулфилмента</a:t>
            </a:r>
            <a:endParaRPr lang="en-US" sz="834" dirty="0"/>
          </a:p>
        </p:txBody>
      </p:sp>
      <p:sp>
        <p:nvSpPr>
          <p:cNvPr id="15" name="Shape 12"/>
          <p:cNvSpPr/>
          <p:nvPr/>
        </p:nvSpPr>
        <p:spPr>
          <a:xfrm>
            <a:off x="571500" y="2712839"/>
            <a:ext cx="4543425" cy="383977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Shape 13"/>
          <p:cNvSpPr/>
          <p:nvPr/>
        </p:nvSpPr>
        <p:spPr>
          <a:xfrm>
            <a:off x="571500" y="2712839"/>
            <a:ext cx="28575" cy="383977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Shape 14"/>
          <p:cNvSpPr/>
          <p:nvPr/>
        </p:nvSpPr>
        <p:spPr>
          <a:xfrm>
            <a:off x="571500" y="2712839"/>
            <a:ext cx="1514475" cy="383977"/>
          </a:xfrm>
          <a:prstGeom prst="rect">
            <a:avLst/>
          </a:prstGeom>
          <a:solidFill>
            <a:srgbClr val="3182CE">
              <a:alpha val="1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Text 15"/>
          <p:cNvSpPr/>
          <p:nvPr/>
        </p:nvSpPr>
        <p:spPr>
          <a:xfrm>
            <a:off x="571500" y="2712839"/>
            <a:ext cx="1514475" cy="383977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clients</a:t>
            </a:r>
            <a:endParaRPr lang="en-US" sz="885" dirty="0"/>
          </a:p>
        </p:txBody>
      </p:sp>
      <p:sp>
        <p:nvSpPr>
          <p:cNvPr id="19" name="Text 16"/>
          <p:cNvSpPr/>
          <p:nvPr/>
        </p:nvSpPr>
        <p:spPr>
          <a:xfrm>
            <a:off x="2085975" y="2712839"/>
            <a:ext cx="3028950" cy="383977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Клиентская база с контактной информацией</a:t>
            </a:r>
            <a:endParaRPr lang="en-US" sz="834" dirty="0"/>
          </a:p>
        </p:txBody>
      </p:sp>
      <p:sp>
        <p:nvSpPr>
          <p:cNvPr id="20" name="Shape 17"/>
          <p:cNvSpPr/>
          <p:nvPr/>
        </p:nvSpPr>
        <p:spPr>
          <a:xfrm>
            <a:off x="571500" y="3182541"/>
            <a:ext cx="4543425" cy="383977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Shape 18"/>
          <p:cNvSpPr/>
          <p:nvPr/>
        </p:nvSpPr>
        <p:spPr>
          <a:xfrm>
            <a:off x="571500" y="3182541"/>
            <a:ext cx="28575" cy="383977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Shape 19"/>
          <p:cNvSpPr/>
          <p:nvPr/>
        </p:nvSpPr>
        <p:spPr>
          <a:xfrm>
            <a:off x="571499" y="3182541"/>
            <a:ext cx="1514475" cy="383977"/>
          </a:xfrm>
          <a:prstGeom prst="rect">
            <a:avLst/>
          </a:prstGeom>
          <a:solidFill>
            <a:srgbClr val="3182CE">
              <a:alpha val="1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20"/>
          <p:cNvSpPr/>
          <p:nvPr/>
        </p:nvSpPr>
        <p:spPr>
          <a:xfrm>
            <a:off x="571500" y="3182541"/>
            <a:ext cx="1514475" cy="383977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</a:t>
            </a:r>
            <a:endParaRPr lang="en-US" sz="885" dirty="0"/>
          </a:p>
        </p:txBody>
      </p:sp>
      <p:sp>
        <p:nvSpPr>
          <p:cNvPr id="24" name="Text 21"/>
          <p:cNvSpPr/>
          <p:nvPr/>
        </p:nvSpPr>
        <p:spPr>
          <a:xfrm>
            <a:off x="2085975" y="3182541"/>
            <a:ext cx="3028950" cy="408638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 err="1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Продажи</a:t>
            </a:r>
            <a:endParaRPr lang="en-US" sz="834" dirty="0"/>
          </a:p>
        </p:txBody>
      </p:sp>
      <p:sp>
        <p:nvSpPr>
          <p:cNvPr id="25" name="Shape 22"/>
          <p:cNvSpPr/>
          <p:nvPr/>
        </p:nvSpPr>
        <p:spPr>
          <a:xfrm>
            <a:off x="571500" y="3652242"/>
            <a:ext cx="4543425" cy="51435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6" name="Shape 23"/>
          <p:cNvSpPr/>
          <p:nvPr/>
        </p:nvSpPr>
        <p:spPr>
          <a:xfrm>
            <a:off x="571500" y="3652242"/>
            <a:ext cx="28575" cy="51435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Shape 24"/>
          <p:cNvSpPr/>
          <p:nvPr/>
        </p:nvSpPr>
        <p:spPr>
          <a:xfrm>
            <a:off x="600074" y="3652242"/>
            <a:ext cx="1514475" cy="514350"/>
          </a:xfrm>
          <a:prstGeom prst="rect">
            <a:avLst/>
          </a:prstGeom>
          <a:solidFill>
            <a:srgbClr val="3182CE">
              <a:alpha val="10000"/>
            </a:srgbClr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28" name="Text 25"/>
          <p:cNvSpPr/>
          <p:nvPr/>
        </p:nvSpPr>
        <p:spPr>
          <a:xfrm>
            <a:off x="571500" y="3652242"/>
            <a:ext cx="1514475" cy="514350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documents</a:t>
            </a:r>
            <a:endParaRPr lang="en-US" sz="885" dirty="0"/>
          </a:p>
        </p:txBody>
      </p:sp>
      <p:sp>
        <p:nvSpPr>
          <p:cNvPr id="29" name="Text 26"/>
          <p:cNvSpPr/>
          <p:nvPr/>
        </p:nvSpPr>
        <p:spPr>
          <a:xfrm>
            <a:off x="2085975" y="3652242"/>
            <a:ext cx="3028950" cy="408638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ru-RU" sz="834" dirty="0">
                <a:solidFill>
                  <a:srgbClr val="2D3748"/>
                </a:solidFill>
                <a:latin typeface="Merriweather" pitchFamily="34" charset="0"/>
              </a:rPr>
              <a:t>Акты и счета</a:t>
            </a:r>
            <a:endParaRPr lang="en-US" sz="834" dirty="0"/>
          </a:p>
        </p:txBody>
      </p:sp>
      <p:sp>
        <p:nvSpPr>
          <p:cNvPr id="30" name="Shape 27"/>
          <p:cNvSpPr/>
          <p:nvPr/>
        </p:nvSpPr>
        <p:spPr>
          <a:xfrm>
            <a:off x="5543550" y="1126927"/>
            <a:ext cx="3028950" cy="3455789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1" name="Text 28"/>
          <p:cNvSpPr/>
          <p:nvPr/>
        </p:nvSpPr>
        <p:spPr>
          <a:xfrm>
            <a:off x="5772150" y="1355527"/>
            <a:ext cx="257175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БАЗА ДАННЫХ</a:t>
            </a:r>
            <a:endParaRPr lang="en-US" sz="987" dirty="0"/>
          </a:p>
        </p:txBody>
      </p:sp>
      <p:sp>
        <p:nvSpPr>
          <p:cNvPr id="32" name="Text 29"/>
          <p:cNvSpPr/>
          <p:nvPr/>
        </p:nvSpPr>
        <p:spPr>
          <a:xfrm>
            <a:off x="5772150" y="1600200"/>
            <a:ext cx="257175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Firebase Firestore (NoSQL) — документоориентированная структура</a:t>
            </a:r>
            <a:endParaRPr lang="en-US" sz="942" dirty="0"/>
          </a:p>
        </p:txBody>
      </p:sp>
      <p:sp>
        <p:nvSpPr>
          <p:cNvPr id="33" name="Text 30"/>
          <p:cNvSpPr/>
          <p:nvPr/>
        </p:nvSpPr>
        <p:spPr>
          <a:xfrm>
            <a:off x="5772150" y="2443163"/>
            <a:ext cx="257175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СИНХРОНИЗАЦИЯ</a:t>
            </a:r>
            <a:endParaRPr lang="en-US" sz="987" dirty="0"/>
          </a:p>
        </p:txBody>
      </p:sp>
      <p:sp>
        <p:nvSpPr>
          <p:cNvPr id="34" name="Text 31"/>
          <p:cNvSpPr/>
          <p:nvPr/>
        </p:nvSpPr>
        <p:spPr>
          <a:xfrm>
            <a:off x="5772150" y="2687836"/>
            <a:ext cx="257175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Данные обновляются в реальном времени у всех подключенных клиентов</a:t>
            </a:r>
            <a:endParaRPr lang="en-US" sz="942" dirty="0"/>
          </a:p>
        </p:txBody>
      </p:sp>
      <p:sp>
        <p:nvSpPr>
          <p:cNvPr id="35" name="Text 32"/>
          <p:cNvSpPr/>
          <p:nvPr/>
        </p:nvSpPr>
        <p:spPr>
          <a:xfrm>
            <a:off x="5772150" y="3530798"/>
            <a:ext cx="257175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kern="0" spc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ДОСТУПНОСТЬ</a:t>
            </a:r>
            <a:endParaRPr lang="en-US" sz="987" dirty="0"/>
          </a:p>
        </p:txBody>
      </p:sp>
      <p:sp>
        <p:nvSpPr>
          <p:cNvPr id="36" name="Text 33"/>
          <p:cNvSpPr/>
          <p:nvPr/>
        </p:nvSpPr>
        <p:spPr>
          <a:xfrm>
            <a:off x="5772150" y="3775472"/>
            <a:ext cx="257175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Встроенная поддержка офлайн-режима с последующей синхронизацией</a:t>
            </a:r>
            <a:endParaRPr lang="en-US" sz="942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8E4223C-52DD-5298-7E7A-DABD4A21DBF6}"/>
              </a:ext>
            </a:extLst>
          </p:cNvPr>
          <p:cNvSpPr txBox="1"/>
          <p:nvPr/>
        </p:nvSpPr>
        <p:spPr>
          <a:xfrm>
            <a:off x="8707407" y="473915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8</a:t>
            </a:r>
          </a:p>
        </p:txBody>
      </p:sp>
      <p:sp>
        <p:nvSpPr>
          <p:cNvPr id="38" name="Shape 17">
            <a:extLst>
              <a:ext uri="{FF2B5EF4-FFF2-40B4-BE49-F238E27FC236}">
                <a16:creationId xmlns:a16="http://schemas.microsoft.com/office/drawing/2014/main" id="{3D94B28B-7D4C-4C85-CDDC-AFEF359B2A3A}"/>
              </a:ext>
            </a:extLst>
          </p:cNvPr>
          <p:cNvSpPr/>
          <p:nvPr/>
        </p:nvSpPr>
        <p:spPr>
          <a:xfrm>
            <a:off x="571498" y="4277870"/>
            <a:ext cx="4543425" cy="383977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 sz="1100" dirty="0"/>
          </a:p>
        </p:txBody>
      </p:sp>
      <p:sp>
        <p:nvSpPr>
          <p:cNvPr id="39" name="Shape 19">
            <a:extLst>
              <a:ext uri="{FF2B5EF4-FFF2-40B4-BE49-F238E27FC236}">
                <a16:creationId xmlns:a16="http://schemas.microsoft.com/office/drawing/2014/main" id="{7E21B75A-06F2-5F37-62C6-0B6428BF7EB8}"/>
              </a:ext>
            </a:extLst>
          </p:cNvPr>
          <p:cNvSpPr/>
          <p:nvPr/>
        </p:nvSpPr>
        <p:spPr>
          <a:xfrm>
            <a:off x="578642" y="4277867"/>
            <a:ext cx="1514475" cy="383979"/>
          </a:xfrm>
          <a:prstGeom prst="rect">
            <a:avLst/>
          </a:prstGeom>
          <a:solidFill>
            <a:srgbClr val="3182CE">
              <a:alpha val="10000"/>
            </a:srgbClr>
          </a:solidFill>
          <a:ln/>
        </p:spPr>
        <p:txBody>
          <a:bodyPr/>
          <a:lstStyle/>
          <a:p>
            <a:endParaRPr lang="en-US" sz="1050" b="1" dirty="0">
              <a:solidFill>
                <a:srgbClr val="1A365D"/>
              </a:solidFill>
              <a:latin typeface="Inter" pitchFamily="34" charset="0"/>
              <a:ea typeface="Inter" pitchFamily="34" charset="-122"/>
            </a:endParaRPr>
          </a:p>
        </p:txBody>
      </p:sp>
      <p:sp>
        <p:nvSpPr>
          <p:cNvPr id="41" name="Shape 23">
            <a:extLst>
              <a:ext uri="{FF2B5EF4-FFF2-40B4-BE49-F238E27FC236}">
                <a16:creationId xmlns:a16="http://schemas.microsoft.com/office/drawing/2014/main" id="{0A209463-2542-552A-9F1B-016D3200EDE7}"/>
              </a:ext>
            </a:extLst>
          </p:cNvPr>
          <p:cNvSpPr/>
          <p:nvPr/>
        </p:nvSpPr>
        <p:spPr>
          <a:xfrm>
            <a:off x="557212" y="4277869"/>
            <a:ext cx="28575" cy="51435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DA1D6B4F-D61C-E2BB-AA38-5030DB3E7678}"/>
              </a:ext>
            </a:extLst>
          </p:cNvPr>
          <p:cNvSpPr/>
          <p:nvPr/>
        </p:nvSpPr>
        <p:spPr>
          <a:xfrm>
            <a:off x="441434" y="4661846"/>
            <a:ext cx="283780" cy="1624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200E0BF-578E-1F25-7F57-4045C0320DBC}"/>
              </a:ext>
            </a:extLst>
          </p:cNvPr>
          <p:cNvSpPr txBox="1"/>
          <p:nvPr/>
        </p:nvSpPr>
        <p:spPr>
          <a:xfrm>
            <a:off x="2121692" y="4351817"/>
            <a:ext cx="256460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800" dirty="0">
                <a:solidFill>
                  <a:schemeClr val="accent1">
                    <a:lumMod val="50000"/>
                  </a:schemeClr>
                </a:solidFill>
                <a:latin typeface="Merriweather" pitchFamily="2" charset="0"/>
              </a:rPr>
              <a:t>Доставки и статусы заявок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F9865B7-D4AE-F09E-B7C4-B3B99148BF67}"/>
              </a:ext>
            </a:extLst>
          </p:cNvPr>
          <p:cNvSpPr txBox="1"/>
          <p:nvPr/>
        </p:nvSpPr>
        <p:spPr>
          <a:xfrm>
            <a:off x="585787" y="4313411"/>
            <a:ext cx="1179546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rgbClr val="1A365D"/>
                </a:solidFill>
                <a:latin typeface="Inter" pitchFamily="34" charset="0"/>
                <a:ea typeface="Inter" pitchFamily="34" charset="-122"/>
              </a:rPr>
              <a:t>deliveries</a:t>
            </a:r>
            <a:endParaRPr lang="ru-RU" sz="1100" dirty="0"/>
          </a:p>
          <a:p>
            <a:endParaRPr lang="ru-RU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85BB3549-BCF2-4DFE-AA20-10673DEF79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1F07751-3FE6-0D19-D624-3DD918A6D6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767" y="944470"/>
            <a:ext cx="2040800" cy="16272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DBD871-CDBC-B6EB-7BFB-5218A574BBEE}"/>
              </a:ext>
            </a:extLst>
          </p:cNvPr>
          <p:cNvSpPr txBox="1"/>
          <p:nvPr/>
        </p:nvSpPr>
        <p:spPr>
          <a:xfrm>
            <a:off x="529045" y="312424"/>
            <a:ext cx="7486065" cy="374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ru-RU" sz="2000" b="1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Проектирование базы данных и структура документов </a:t>
            </a:r>
            <a:r>
              <a:rPr lang="en-US" sz="2000" b="1" dirty="0" err="1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Firestore</a:t>
            </a:r>
            <a:endParaRPr lang="en-US" sz="20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9EB1754-EF21-42A9-9690-BAB1D13E5BF9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4660607" y="891821"/>
            <a:ext cx="4132097" cy="284327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FC52268-9DF3-4B86-873B-A8A0A0FC8D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0085" y="891822"/>
            <a:ext cx="4193309" cy="284327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055AC1D-75A1-4D45-89D3-C1B645E90F3C}"/>
              </a:ext>
            </a:extLst>
          </p:cNvPr>
          <p:cNvSpPr txBox="1"/>
          <p:nvPr/>
        </p:nvSpPr>
        <p:spPr>
          <a:xfrm>
            <a:off x="8707407" y="473915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0956220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Функциональные возможности системы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1112639"/>
            <a:ext cx="80010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Разграничение ролей обеспечивает гибкость и безопасность работы</a:t>
            </a:r>
            <a:endParaRPr lang="en-US" sz="1193" dirty="0"/>
          </a:p>
        </p:txBody>
      </p:sp>
      <p:sp>
        <p:nvSpPr>
          <p:cNvPr id="5" name="Shape 2"/>
          <p:cNvSpPr/>
          <p:nvPr/>
        </p:nvSpPr>
        <p:spPr>
          <a:xfrm>
            <a:off x="571500" y="1605558"/>
            <a:ext cx="3786188" cy="528638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3"/>
          <p:cNvSpPr/>
          <p:nvPr/>
        </p:nvSpPr>
        <p:spPr>
          <a:xfrm>
            <a:off x="571500" y="1605558"/>
            <a:ext cx="3786188" cy="573427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ru-RU" sz="1397" b="1" kern="0" spc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Менеджер</a:t>
            </a:r>
            <a:endParaRPr lang="en-US" sz="1397" dirty="0"/>
          </a:p>
        </p:txBody>
      </p:sp>
      <p:sp>
        <p:nvSpPr>
          <p:cNvPr id="7" name="Shape 4"/>
          <p:cNvSpPr/>
          <p:nvPr/>
        </p:nvSpPr>
        <p:spPr>
          <a:xfrm>
            <a:off x="571500" y="2134195"/>
            <a:ext cx="3786188" cy="2652117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Shape 5"/>
          <p:cNvSpPr/>
          <p:nvPr/>
        </p:nvSpPr>
        <p:spPr>
          <a:xfrm>
            <a:off x="571500" y="4729163"/>
            <a:ext cx="3786188" cy="57150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6"/>
          <p:cNvSpPr/>
          <p:nvPr/>
        </p:nvSpPr>
        <p:spPr>
          <a:xfrm>
            <a:off x="857250" y="2419945"/>
            <a:ext cx="3214688" cy="214313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Авторизация и вход в систему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857250" y="2812852"/>
            <a:ext cx="3184718" cy="414857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Работа </a:t>
            </a:r>
            <a:r>
              <a:rPr lang="en-US" sz="987" b="1" dirty="0" err="1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с</a:t>
            </a:r>
            <a:r>
              <a:rPr lang="en-US" sz="987" b="1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</a:t>
            </a:r>
            <a:r>
              <a:rPr lang="ru-RU" sz="987" b="1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перечнем услуг</a:t>
            </a:r>
            <a:r>
              <a:rPr lang="en-US" sz="987" b="1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(</a:t>
            </a:r>
            <a:r>
              <a:rPr lang="ru-RU" sz="987" b="1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создание, поиск, </a:t>
            </a:r>
          </a:p>
          <a:p>
            <a:pPr marL="0" indent="0" algn="l">
              <a:lnSpc>
                <a:spcPts val="1700"/>
              </a:lnSpc>
              <a:buNone/>
            </a:pPr>
            <a:r>
              <a:rPr lang="ru-RU" sz="987" b="1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редактирование</a:t>
            </a:r>
            <a:r>
              <a:rPr lang="en-US" sz="987" b="1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)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857249" y="3289103"/>
            <a:ext cx="3162276" cy="196849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ru-RU" sz="987" b="1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Формирование и просмотр актов и счетов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857250" y="3598664"/>
            <a:ext cx="2727863" cy="196849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ru-RU" sz="987" b="1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Просмотр статистики и аналитики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857250" y="2448520"/>
            <a:ext cx="6901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182C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■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857250" y="2841427"/>
            <a:ext cx="6901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182C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■</a:t>
            </a:r>
            <a:endParaRPr lang="en-US" sz="784" dirty="0"/>
          </a:p>
        </p:txBody>
      </p:sp>
      <p:sp>
        <p:nvSpPr>
          <p:cNvPr id="15" name="Text 12"/>
          <p:cNvSpPr/>
          <p:nvPr/>
        </p:nvSpPr>
        <p:spPr>
          <a:xfrm>
            <a:off x="847395" y="3291504"/>
            <a:ext cx="122219" cy="1605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182C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■</a:t>
            </a:r>
            <a:endParaRPr lang="en-US" sz="784" dirty="0"/>
          </a:p>
        </p:txBody>
      </p:sp>
      <p:sp>
        <p:nvSpPr>
          <p:cNvPr id="16" name="Text 13"/>
          <p:cNvSpPr/>
          <p:nvPr/>
        </p:nvSpPr>
        <p:spPr>
          <a:xfrm>
            <a:off x="857250" y="3627239"/>
            <a:ext cx="6901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182C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■</a:t>
            </a:r>
            <a:endParaRPr lang="en-US" sz="784" dirty="0"/>
          </a:p>
        </p:txBody>
      </p:sp>
      <p:sp>
        <p:nvSpPr>
          <p:cNvPr id="17" name="Shape 14"/>
          <p:cNvSpPr/>
          <p:nvPr/>
        </p:nvSpPr>
        <p:spPr>
          <a:xfrm>
            <a:off x="4786313" y="1605558"/>
            <a:ext cx="3786188" cy="528638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Text 15"/>
          <p:cNvSpPr/>
          <p:nvPr/>
        </p:nvSpPr>
        <p:spPr>
          <a:xfrm>
            <a:off x="4786313" y="1605558"/>
            <a:ext cx="3786188" cy="573427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ru-RU" sz="1397" b="1" kern="0" spc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Курьер</a:t>
            </a:r>
            <a:endParaRPr lang="en-US" sz="1397" dirty="0"/>
          </a:p>
        </p:txBody>
      </p:sp>
      <p:sp>
        <p:nvSpPr>
          <p:cNvPr id="19" name="Shape 16"/>
          <p:cNvSpPr/>
          <p:nvPr/>
        </p:nvSpPr>
        <p:spPr>
          <a:xfrm>
            <a:off x="4786313" y="2134195"/>
            <a:ext cx="3786188" cy="2652117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Shape 17"/>
          <p:cNvSpPr/>
          <p:nvPr/>
        </p:nvSpPr>
        <p:spPr>
          <a:xfrm>
            <a:off x="4786313" y="4729163"/>
            <a:ext cx="3786188" cy="57150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8"/>
          <p:cNvSpPr/>
          <p:nvPr/>
        </p:nvSpPr>
        <p:spPr>
          <a:xfrm>
            <a:off x="5072063" y="2419945"/>
            <a:ext cx="2371996" cy="196849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ru-RU" sz="987" b="1" dirty="0">
                <a:solidFill>
                  <a:srgbClr val="2D3748"/>
                </a:solidFill>
                <a:latin typeface="Merriweather" pitchFamily="34" charset="0"/>
              </a:rPr>
              <a:t>Авторизация и вход в систему</a:t>
            </a:r>
            <a:endParaRPr lang="en-US" sz="987" dirty="0"/>
          </a:p>
        </p:txBody>
      </p:sp>
      <p:sp>
        <p:nvSpPr>
          <p:cNvPr id="22" name="Text 19"/>
          <p:cNvSpPr/>
          <p:nvPr/>
        </p:nvSpPr>
        <p:spPr>
          <a:xfrm>
            <a:off x="5072063" y="2812852"/>
            <a:ext cx="2299860" cy="196849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ru-RU" sz="987" b="1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Просмотр заявок на доставку</a:t>
            </a:r>
            <a:endParaRPr lang="en-US" sz="987" dirty="0"/>
          </a:p>
        </p:txBody>
      </p:sp>
      <p:sp>
        <p:nvSpPr>
          <p:cNvPr id="23" name="Text 20"/>
          <p:cNvSpPr/>
          <p:nvPr/>
        </p:nvSpPr>
        <p:spPr>
          <a:xfrm>
            <a:off x="5072063" y="3205758"/>
            <a:ext cx="2925032" cy="414857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ru-RU" sz="987" b="1" dirty="0">
                <a:solidFill>
                  <a:srgbClr val="2D3748"/>
                </a:solidFill>
                <a:latin typeface="Merriweather" pitchFamily="34" charset="0"/>
              </a:rPr>
              <a:t>Оставление заметок при выполнении </a:t>
            </a:r>
          </a:p>
          <a:p>
            <a:pPr marL="0" indent="0" algn="l">
              <a:lnSpc>
                <a:spcPts val="1700"/>
              </a:lnSpc>
              <a:buNone/>
            </a:pPr>
            <a:r>
              <a:rPr lang="ru-RU" sz="987" b="1" dirty="0">
                <a:solidFill>
                  <a:srgbClr val="2D3748"/>
                </a:solidFill>
                <a:latin typeface="Merriweather" pitchFamily="34" charset="0"/>
              </a:rPr>
              <a:t>доставки</a:t>
            </a:r>
            <a:endParaRPr lang="en-US" sz="987" dirty="0"/>
          </a:p>
        </p:txBody>
      </p:sp>
      <p:sp>
        <p:nvSpPr>
          <p:cNvPr id="24" name="Text 21"/>
          <p:cNvSpPr/>
          <p:nvPr/>
        </p:nvSpPr>
        <p:spPr>
          <a:xfrm>
            <a:off x="5072063" y="3725342"/>
            <a:ext cx="2715039" cy="196849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ru-RU" sz="987" b="1" dirty="0">
                <a:solidFill>
                  <a:srgbClr val="2D3748"/>
                </a:solidFill>
                <a:latin typeface="Merriweather" pitchFamily="34" charset="0"/>
              </a:rPr>
              <a:t>Аналитика выполненных доставок</a:t>
            </a:r>
            <a:endParaRPr lang="en-US" sz="987" dirty="0"/>
          </a:p>
        </p:txBody>
      </p:sp>
      <p:sp>
        <p:nvSpPr>
          <p:cNvPr id="25" name="Text 22"/>
          <p:cNvSpPr/>
          <p:nvPr/>
        </p:nvSpPr>
        <p:spPr>
          <a:xfrm>
            <a:off x="5072063" y="2448520"/>
            <a:ext cx="6901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365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■</a:t>
            </a:r>
            <a:endParaRPr lang="en-US" sz="784" dirty="0"/>
          </a:p>
        </p:txBody>
      </p:sp>
      <p:sp>
        <p:nvSpPr>
          <p:cNvPr id="26" name="Text 23"/>
          <p:cNvSpPr/>
          <p:nvPr/>
        </p:nvSpPr>
        <p:spPr>
          <a:xfrm>
            <a:off x="5072063" y="2841427"/>
            <a:ext cx="6901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365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■</a:t>
            </a:r>
            <a:endParaRPr lang="en-US" sz="784" dirty="0"/>
          </a:p>
        </p:txBody>
      </p:sp>
      <p:sp>
        <p:nvSpPr>
          <p:cNvPr id="27" name="Text 24"/>
          <p:cNvSpPr/>
          <p:nvPr/>
        </p:nvSpPr>
        <p:spPr>
          <a:xfrm>
            <a:off x="5072063" y="3234333"/>
            <a:ext cx="6901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365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■</a:t>
            </a:r>
            <a:endParaRPr lang="en-US" sz="784" dirty="0"/>
          </a:p>
        </p:txBody>
      </p:sp>
      <p:sp>
        <p:nvSpPr>
          <p:cNvPr id="28" name="Text 25"/>
          <p:cNvSpPr/>
          <p:nvPr/>
        </p:nvSpPr>
        <p:spPr>
          <a:xfrm>
            <a:off x="5072063" y="3748412"/>
            <a:ext cx="6901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365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■</a:t>
            </a:r>
            <a:endParaRPr lang="en-US" sz="784" dirty="0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EEB13DBE-BA33-BFD5-C437-75F370CCAA95}"/>
              </a:ext>
            </a:extLst>
          </p:cNvPr>
          <p:cNvSpPr/>
          <p:nvPr/>
        </p:nvSpPr>
        <p:spPr>
          <a:xfrm>
            <a:off x="842265" y="3886434"/>
            <a:ext cx="2439322" cy="196849"/>
          </a:xfrm>
          <a:prstGeom prst="rect">
            <a:avLst/>
          </a:prstGeom>
          <a:noFill/>
          <a:ln/>
        </p:spPr>
        <p:txBody>
          <a:bodyPr wrap="none" lIns="255143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ru-RU" sz="987" b="1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Управлением циклом доставок</a:t>
            </a:r>
            <a:endParaRPr lang="en-US" sz="987" dirty="0"/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8089C040-F41B-C26D-40F4-C794DD219DA4}"/>
              </a:ext>
            </a:extLst>
          </p:cNvPr>
          <p:cNvSpPr/>
          <p:nvPr/>
        </p:nvSpPr>
        <p:spPr>
          <a:xfrm>
            <a:off x="865150" y="3909006"/>
            <a:ext cx="122219" cy="1605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182C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■</a:t>
            </a:r>
            <a:endParaRPr lang="en-US" sz="784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B46516E-BA5E-67BD-8380-61CCEE451D9C}"/>
              </a:ext>
            </a:extLst>
          </p:cNvPr>
          <p:cNvSpPr txBox="1"/>
          <p:nvPr/>
        </p:nvSpPr>
        <p:spPr>
          <a:xfrm>
            <a:off x="8707407" y="473915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Безопасность системы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1041202"/>
            <a:ext cx="7143750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Многоуровневая защита данных гарантирует конфиденциальность и целостность информации</a:t>
            </a:r>
            <a:endParaRPr lang="en-US" sz="1193" dirty="0"/>
          </a:p>
        </p:txBody>
      </p:sp>
      <p:sp>
        <p:nvSpPr>
          <p:cNvPr id="5" name="Shape 2"/>
          <p:cNvSpPr/>
          <p:nvPr/>
        </p:nvSpPr>
        <p:spPr>
          <a:xfrm>
            <a:off x="571500" y="1806978"/>
            <a:ext cx="4543425" cy="5715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Shape 3"/>
          <p:cNvSpPr/>
          <p:nvPr/>
        </p:nvSpPr>
        <p:spPr>
          <a:xfrm>
            <a:off x="571500" y="1806978"/>
            <a:ext cx="42863" cy="571500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4"/>
          <p:cNvSpPr/>
          <p:nvPr/>
        </p:nvSpPr>
        <p:spPr>
          <a:xfrm>
            <a:off x="750094" y="1989144"/>
            <a:ext cx="21431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1107281" y="2002706"/>
            <a:ext cx="3227189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Авторизация пользователей через Firebase Auth</a:t>
            </a:r>
            <a:endParaRPr lang="en-US" sz="885" dirty="0"/>
          </a:p>
        </p:txBody>
      </p:sp>
      <p:sp>
        <p:nvSpPr>
          <p:cNvPr id="9" name="Shape 6"/>
          <p:cNvSpPr/>
          <p:nvPr/>
        </p:nvSpPr>
        <p:spPr>
          <a:xfrm>
            <a:off x="571500" y="2559109"/>
            <a:ext cx="4543425" cy="64578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7"/>
          <p:cNvSpPr/>
          <p:nvPr/>
        </p:nvSpPr>
        <p:spPr>
          <a:xfrm>
            <a:off x="571500" y="2559109"/>
            <a:ext cx="42863" cy="645784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750094" y="2778416"/>
            <a:ext cx="21431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1100138" y="2778416"/>
            <a:ext cx="3829050" cy="164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D3748"/>
                </a:solidFill>
                <a:latin typeface="Merriweather" pitchFamily="34" charset="0"/>
              </a:rPr>
              <a:t>Firebase security rules</a:t>
            </a:r>
            <a:endParaRPr lang="en-US" sz="885" dirty="0"/>
          </a:p>
        </p:txBody>
      </p:sp>
      <p:sp>
        <p:nvSpPr>
          <p:cNvPr id="13" name="Shape 10"/>
          <p:cNvSpPr/>
          <p:nvPr/>
        </p:nvSpPr>
        <p:spPr>
          <a:xfrm>
            <a:off x="571500" y="3385524"/>
            <a:ext cx="4543425" cy="64578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Shape 11"/>
          <p:cNvSpPr/>
          <p:nvPr/>
        </p:nvSpPr>
        <p:spPr>
          <a:xfrm>
            <a:off x="571500" y="3385524"/>
            <a:ext cx="42863" cy="645784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750094" y="3604831"/>
            <a:ext cx="21431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93" dirty="0"/>
          </a:p>
        </p:txBody>
      </p:sp>
      <p:sp>
        <p:nvSpPr>
          <p:cNvPr id="16" name="Text 13"/>
          <p:cNvSpPr/>
          <p:nvPr/>
        </p:nvSpPr>
        <p:spPr>
          <a:xfrm>
            <a:off x="1107281" y="3528399"/>
            <a:ext cx="382905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Каждый пользователь имеет доступ только к своим данным</a:t>
            </a:r>
            <a:endParaRPr lang="en-US" sz="885" dirty="0"/>
          </a:p>
        </p:txBody>
      </p:sp>
      <p:sp>
        <p:nvSpPr>
          <p:cNvPr id="17" name="Shape 14"/>
          <p:cNvSpPr/>
          <p:nvPr/>
        </p:nvSpPr>
        <p:spPr>
          <a:xfrm>
            <a:off x="571500" y="4211938"/>
            <a:ext cx="4543425" cy="64578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Shape 15"/>
          <p:cNvSpPr/>
          <p:nvPr/>
        </p:nvSpPr>
        <p:spPr>
          <a:xfrm>
            <a:off x="571500" y="4211938"/>
            <a:ext cx="42863" cy="645784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9" name="Text 16"/>
          <p:cNvSpPr/>
          <p:nvPr/>
        </p:nvSpPr>
        <p:spPr>
          <a:xfrm>
            <a:off x="750094" y="4431246"/>
            <a:ext cx="23055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193" dirty="0"/>
          </a:p>
        </p:txBody>
      </p:sp>
      <p:sp>
        <p:nvSpPr>
          <p:cNvPr id="20" name="Text 17"/>
          <p:cNvSpPr/>
          <p:nvPr/>
        </p:nvSpPr>
        <p:spPr>
          <a:xfrm>
            <a:off x="1123522" y="4354813"/>
            <a:ext cx="3812809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Firestore Security Rules — правила на уровне базы данных</a:t>
            </a:r>
            <a:endParaRPr lang="en-US" sz="885" dirty="0"/>
          </a:p>
        </p:txBody>
      </p:sp>
      <p:sp>
        <p:nvSpPr>
          <p:cNvPr id="21" name="Shape 18"/>
          <p:cNvSpPr/>
          <p:nvPr/>
        </p:nvSpPr>
        <p:spPr>
          <a:xfrm>
            <a:off x="5543550" y="1806978"/>
            <a:ext cx="3028950" cy="3050772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Shape 19"/>
          <p:cNvSpPr/>
          <p:nvPr/>
        </p:nvSpPr>
        <p:spPr>
          <a:xfrm>
            <a:off x="5543550" y="1806978"/>
            <a:ext cx="3028950" cy="57150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20"/>
          <p:cNvSpPr/>
          <p:nvPr/>
        </p:nvSpPr>
        <p:spPr>
          <a:xfrm>
            <a:off x="5829300" y="2349401"/>
            <a:ext cx="2457450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kern="0" spc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ПРИНЦИП РАБОТЫ</a:t>
            </a:r>
            <a:endParaRPr lang="en-US" sz="1397" dirty="0"/>
          </a:p>
        </p:txBody>
      </p:sp>
      <p:sp>
        <p:nvSpPr>
          <p:cNvPr id="24" name="Text 21"/>
          <p:cNvSpPr/>
          <p:nvPr/>
        </p:nvSpPr>
        <p:spPr>
          <a:xfrm>
            <a:off x="5829300" y="2806601"/>
            <a:ext cx="2457450" cy="1508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159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Запросы к данным проверяются на сервере Firebase — несанкционированный доступ исключён на уровне инфраструктуры.</a:t>
            </a:r>
            <a:endParaRPr lang="en-US" sz="1159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DB40545-3AF7-9DDA-2BCE-95ABD98FA96E}"/>
              </a:ext>
            </a:extLst>
          </p:cNvPr>
          <p:cNvSpPr txBox="1"/>
          <p:nvPr/>
        </p:nvSpPr>
        <p:spPr>
          <a:xfrm>
            <a:off x="8707407" y="473915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57" y="0"/>
            <a:ext cx="9144000" cy="53008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5011372" cy="2821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200"/>
              </a:lnSpc>
            </a:pPr>
            <a:r>
              <a:rPr lang="ru-RU" sz="2000" b="1" dirty="0">
                <a:solidFill>
                  <a:srgbClr val="1A365D"/>
                </a:solidFill>
                <a:latin typeface="Inter" pitchFamily="34" charset="0"/>
                <a:ea typeface="Inter" pitchFamily="34" charset="-122"/>
              </a:rPr>
              <a:t>Функциональные возможности</a:t>
            </a:r>
            <a:r>
              <a:rPr lang="en-US" sz="2000" b="1" dirty="0">
                <a:solidFill>
                  <a:srgbClr val="1A365D"/>
                </a:solidFill>
                <a:latin typeface="Inter" pitchFamily="34" charset="0"/>
                <a:ea typeface="Inter" pitchFamily="34" charset="-122"/>
              </a:rPr>
              <a:t> </a:t>
            </a:r>
            <a:r>
              <a:rPr lang="en-US" sz="2000" b="1" dirty="0" err="1">
                <a:solidFill>
                  <a:srgbClr val="1A365D"/>
                </a:solidFill>
                <a:latin typeface="Inter" pitchFamily="34" charset="0"/>
                <a:ea typeface="Inter" pitchFamily="34" charset="-122"/>
              </a:rPr>
              <a:t>приложения</a:t>
            </a:r>
            <a:endParaRPr lang="en-US" sz="2000" b="1" dirty="0">
              <a:solidFill>
                <a:srgbClr val="1A365D"/>
              </a:solidFill>
              <a:latin typeface="Inter" pitchFamily="34" charset="0"/>
              <a:ea typeface="Inter" pitchFamily="34" charset="-122"/>
            </a:endParaRPr>
          </a:p>
        </p:txBody>
      </p:sp>
      <p:sp>
        <p:nvSpPr>
          <p:cNvPr id="4" name="Text 1"/>
          <p:cNvSpPr/>
          <p:nvPr/>
        </p:nvSpPr>
        <p:spPr>
          <a:xfrm>
            <a:off x="520137" y="1112639"/>
            <a:ext cx="8103758" cy="1942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ИНТЕРФЕЙС ПРИЛОЖЕНИЯ ОХВАТЫВАЕТ ПОЛНЫЙ ЦИКЛ ОПЕРАЦИЙ</a:t>
            </a:r>
            <a:r>
              <a:rPr lang="ru-RU" sz="1193" b="1" kern="0" spc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МОНИТОРИНГУ ОСНОВНЫХ СКЛАДСКИХ ОПЕРАЦИЙ</a:t>
            </a:r>
            <a:endParaRPr lang="en-US" sz="1193" dirty="0"/>
          </a:p>
        </p:txBody>
      </p:sp>
      <p:sp>
        <p:nvSpPr>
          <p:cNvPr id="5" name="Shape 2"/>
          <p:cNvSpPr/>
          <p:nvPr/>
        </p:nvSpPr>
        <p:spPr>
          <a:xfrm>
            <a:off x="2196695" y="1626989"/>
            <a:ext cx="2135496" cy="156191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Shape 3"/>
          <p:cNvSpPr/>
          <p:nvPr/>
        </p:nvSpPr>
        <p:spPr>
          <a:xfrm>
            <a:off x="2196695" y="1626989"/>
            <a:ext cx="2135496" cy="42863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4"/>
          <p:cNvSpPr/>
          <p:nvPr/>
        </p:nvSpPr>
        <p:spPr>
          <a:xfrm>
            <a:off x="2320295" y="1841301"/>
            <a:ext cx="1833302" cy="251817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Экран авторизации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2320295" y="2200275"/>
            <a:ext cx="1833302" cy="342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Безопасный вход в систему по email </a:t>
            </a:r>
            <a:r>
              <a:rPr lang="en-US" sz="834" dirty="0" err="1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и</a:t>
            </a:r>
            <a:r>
              <a:rPr lang="en-US" sz="834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</a:t>
            </a:r>
            <a:r>
              <a:rPr lang="en-US" sz="834" dirty="0" err="1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паролю</a:t>
            </a:r>
            <a:r>
              <a:rPr lang="ru-RU" sz="834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.</a:t>
            </a:r>
            <a:endParaRPr lang="en-US" sz="834" dirty="0"/>
          </a:p>
        </p:txBody>
      </p:sp>
      <p:sp>
        <p:nvSpPr>
          <p:cNvPr id="9" name="Text 6"/>
          <p:cNvSpPr/>
          <p:nvPr/>
        </p:nvSpPr>
        <p:spPr>
          <a:xfrm>
            <a:off x="4052244" y="1634933"/>
            <a:ext cx="247799" cy="599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3182CE">
                    <a:alpha val="2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808" dirty="0"/>
          </a:p>
        </p:txBody>
      </p:sp>
      <p:sp>
        <p:nvSpPr>
          <p:cNvPr id="10" name="Shape 7"/>
          <p:cNvSpPr/>
          <p:nvPr/>
        </p:nvSpPr>
        <p:spPr>
          <a:xfrm>
            <a:off x="4460790" y="1641276"/>
            <a:ext cx="2135496" cy="156191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Shape 8"/>
          <p:cNvSpPr/>
          <p:nvPr/>
        </p:nvSpPr>
        <p:spPr>
          <a:xfrm>
            <a:off x="4460790" y="1641276"/>
            <a:ext cx="2135496" cy="42863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9"/>
          <p:cNvSpPr/>
          <p:nvPr/>
        </p:nvSpPr>
        <p:spPr>
          <a:xfrm>
            <a:off x="4584390" y="1855588"/>
            <a:ext cx="1833302" cy="251817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 err="1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Каталог</a:t>
            </a:r>
            <a:r>
              <a:rPr lang="en-US" sz="987" b="1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ru-RU" sz="987" b="1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услуг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4584390" y="2214562"/>
            <a:ext cx="1833302" cy="342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Удобный </a:t>
            </a:r>
            <a:r>
              <a:rPr lang="en-US" sz="834" dirty="0" err="1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список</a:t>
            </a:r>
            <a:r>
              <a:rPr lang="en-US" sz="834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</a:t>
            </a:r>
            <a:r>
              <a:rPr lang="ru-RU" sz="834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услуг</a:t>
            </a:r>
            <a:r>
              <a:rPr lang="en-US" sz="834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с функциями </a:t>
            </a:r>
            <a:r>
              <a:rPr lang="en-US" sz="834" dirty="0" err="1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быстрого</a:t>
            </a:r>
            <a:r>
              <a:rPr lang="en-US" sz="834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</a:t>
            </a:r>
            <a:r>
              <a:rPr lang="en-US" sz="834" dirty="0" err="1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поиска</a:t>
            </a:r>
            <a:r>
              <a:rPr lang="ru-RU" sz="834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.</a:t>
            </a:r>
            <a:endParaRPr lang="en-US" sz="834" dirty="0"/>
          </a:p>
        </p:txBody>
      </p:sp>
      <p:sp>
        <p:nvSpPr>
          <p:cNvPr id="14" name="Text 11"/>
          <p:cNvSpPr/>
          <p:nvPr/>
        </p:nvSpPr>
        <p:spPr>
          <a:xfrm>
            <a:off x="6354400" y="1641276"/>
            <a:ext cx="290106" cy="292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3182CE">
                    <a:alpha val="2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808" dirty="0"/>
          </a:p>
        </p:txBody>
      </p:sp>
      <p:sp>
        <p:nvSpPr>
          <p:cNvPr id="15" name="Shape 12"/>
          <p:cNvSpPr/>
          <p:nvPr/>
        </p:nvSpPr>
        <p:spPr>
          <a:xfrm>
            <a:off x="6733614" y="1605558"/>
            <a:ext cx="2135520" cy="156191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Shape 13"/>
          <p:cNvSpPr/>
          <p:nvPr/>
        </p:nvSpPr>
        <p:spPr>
          <a:xfrm>
            <a:off x="6733614" y="1605558"/>
            <a:ext cx="2135520" cy="42863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4"/>
          <p:cNvSpPr/>
          <p:nvPr/>
        </p:nvSpPr>
        <p:spPr>
          <a:xfrm>
            <a:off x="6857214" y="1819870"/>
            <a:ext cx="1833325" cy="251817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 err="1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Оформление</a:t>
            </a:r>
            <a:r>
              <a:rPr lang="en-US" sz="987" b="1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ru-RU" sz="987" b="1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актов</a:t>
            </a:r>
            <a:endParaRPr lang="en-US" sz="987" dirty="0"/>
          </a:p>
        </p:txBody>
      </p:sp>
      <p:sp>
        <p:nvSpPr>
          <p:cNvPr id="18" name="Text 15"/>
          <p:cNvSpPr/>
          <p:nvPr/>
        </p:nvSpPr>
        <p:spPr>
          <a:xfrm>
            <a:off x="6857214" y="2178844"/>
            <a:ext cx="1833325" cy="7014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Интерфейс для выбора товаров, привязки клиента и автоматического расчета итоговой суммы.</a:t>
            </a:r>
            <a:endParaRPr lang="en-US" sz="834" dirty="0"/>
          </a:p>
        </p:txBody>
      </p:sp>
      <p:sp>
        <p:nvSpPr>
          <p:cNvPr id="19" name="Text 16"/>
          <p:cNvSpPr/>
          <p:nvPr/>
        </p:nvSpPr>
        <p:spPr>
          <a:xfrm>
            <a:off x="8637002" y="1609130"/>
            <a:ext cx="294639" cy="292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3182CE">
                    <a:alpha val="2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808" dirty="0"/>
          </a:p>
        </p:txBody>
      </p:sp>
      <p:sp>
        <p:nvSpPr>
          <p:cNvPr id="20" name="Shape 17"/>
          <p:cNvSpPr/>
          <p:nvPr/>
        </p:nvSpPr>
        <p:spPr>
          <a:xfrm>
            <a:off x="2196695" y="3360353"/>
            <a:ext cx="2135496" cy="156191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Shape 18"/>
          <p:cNvSpPr/>
          <p:nvPr/>
        </p:nvSpPr>
        <p:spPr>
          <a:xfrm>
            <a:off x="2196695" y="3360353"/>
            <a:ext cx="2135496" cy="42863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Text 19"/>
          <p:cNvSpPr/>
          <p:nvPr/>
        </p:nvSpPr>
        <p:spPr>
          <a:xfrm>
            <a:off x="2320295" y="3574665"/>
            <a:ext cx="1833302" cy="251817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Управление клиентами</a:t>
            </a:r>
            <a:endParaRPr lang="en-US" sz="987" dirty="0"/>
          </a:p>
        </p:txBody>
      </p:sp>
      <p:sp>
        <p:nvSpPr>
          <p:cNvPr id="23" name="Text 20"/>
          <p:cNvSpPr/>
          <p:nvPr/>
        </p:nvSpPr>
        <p:spPr>
          <a:xfrm>
            <a:off x="2320295" y="3933639"/>
            <a:ext cx="1833302" cy="521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Информативные карточки контрагентов с </a:t>
            </a:r>
            <a:r>
              <a:rPr lang="en-US" sz="834" dirty="0" err="1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контактными</a:t>
            </a:r>
            <a:r>
              <a:rPr lang="en-US" sz="834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</a:t>
            </a:r>
            <a:r>
              <a:rPr lang="en-US" sz="834" dirty="0" err="1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данным</a:t>
            </a:r>
            <a:r>
              <a:rPr lang="ru-RU" sz="834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и.</a:t>
            </a:r>
            <a:endParaRPr lang="en-US" sz="834" dirty="0"/>
          </a:p>
        </p:txBody>
      </p:sp>
      <p:sp>
        <p:nvSpPr>
          <p:cNvPr id="24" name="Text 21"/>
          <p:cNvSpPr/>
          <p:nvPr/>
        </p:nvSpPr>
        <p:spPr>
          <a:xfrm>
            <a:off x="4067225" y="3402050"/>
            <a:ext cx="300683" cy="292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3182CE">
                    <a:alpha val="2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808" dirty="0"/>
          </a:p>
        </p:txBody>
      </p:sp>
      <p:sp>
        <p:nvSpPr>
          <p:cNvPr id="25" name="Shape 22"/>
          <p:cNvSpPr/>
          <p:nvPr/>
        </p:nvSpPr>
        <p:spPr>
          <a:xfrm>
            <a:off x="4460790" y="3374640"/>
            <a:ext cx="2135496" cy="1519051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6" name="Shape 23"/>
          <p:cNvSpPr/>
          <p:nvPr/>
        </p:nvSpPr>
        <p:spPr>
          <a:xfrm>
            <a:off x="4460790" y="3374640"/>
            <a:ext cx="2135496" cy="42863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4"/>
          <p:cNvSpPr/>
          <p:nvPr/>
        </p:nvSpPr>
        <p:spPr>
          <a:xfrm>
            <a:off x="4628825" y="3606623"/>
            <a:ext cx="1099563" cy="253980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ru-RU" sz="987" b="1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Документы</a:t>
            </a:r>
            <a:endParaRPr lang="en-US" sz="987" dirty="0"/>
          </a:p>
        </p:txBody>
      </p:sp>
      <p:sp>
        <p:nvSpPr>
          <p:cNvPr id="28" name="Text 25"/>
          <p:cNvSpPr/>
          <p:nvPr/>
        </p:nvSpPr>
        <p:spPr>
          <a:xfrm>
            <a:off x="4584390" y="3947926"/>
            <a:ext cx="1833302" cy="521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Централизованное хранение, просмотр и </a:t>
            </a:r>
            <a:r>
              <a:rPr lang="en-US" sz="834" dirty="0" err="1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управление</a:t>
            </a:r>
            <a:r>
              <a:rPr lang="en-US" sz="834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</a:t>
            </a:r>
            <a:r>
              <a:rPr lang="ru-RU" sz="834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актами и расчетами</a:t>
            </a:r>
            <a:r>
              <a:rPr lang="en-US" sz="834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.</a:t>
            </a:r>
            <a:endParaRPr lang="en-US" sz="834" dirty="0"/>
          </a:p>
        </p:txBody>
      </p:sp>
      <p:sp>
        <p:nvSpPr>
          <p:cNvPr id="29" name="Text 26"/>
          <p:cNvSpPr/>
          <p:nvPr/>
        </p:nvSpPr>
        <p:spPr>
          <a:xfrm>
            <a:off x="6343408" y="3374639"/>
            <a:ext cx="288595" cy="292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3182CE">
                    <a:alpha val="2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808" dirty="0"/>
          </a:p>
        </p:txBody>
      </p:sp>
      <p:sp>
        <p:nvSpPr>
          <p:cNvPr id="30" name="Shape 27"/>
          <p:cNvSpPr/>
          <p:nvPr/>
        </p:nvSpPr>
        <p:spPr>
          <a:xfrm>
            <a:off x="6733614" y="3338922"/>
            <a:ext cx="2135520" cy="1519051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1" name="Shape 28"/>
          <p:cNvSpPr/>
          <p:nvPr/>
        </p:nvSpPr>
        <p:spPr>
          <a:xfrm>
            <a:off x="6733614" y="3338922"/>
            <a:ext cx="2135520" cy="42863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2" name="Text 29"/>
          <p:cNvSpPr/>
          <p:nvPr/>
        </p:nvSpPr>
        <p:spPr>
          <a:xfrm>
            <a:off x="6857214" y="3553234"/>
            <a:ext cx="1833325" cy="251817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Статистика</a:t>
            </a:r>
            <a:endParaRPr lang="en-US" sz="987" dirty="0"/>
          </a:p>
        </p:txBody>
      </p:sp>
      <p:sp>
        <p:nvSpPr>
          <p:cNvPr id="33" name="Text 30"/>
          <p:cNvSpPr/>
          <p:nvPr/>
        </p:nvSpPr>
        <p:spPr>
          <a:xfrm>
            <a:off x="6857214" y="3912208"/>
            <a:ext cx="1833325" cy="521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4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Сводные аналитические данные и ключевые показатели </a:t>
            </a:r>
            <a:r>
              <a:rPr lang="en-US" sz="834" dirty="0" err="1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для</a:t>
            </a:r>
            <a:r>
              <a:rPr lang="en-US" sz="834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</a:t>
            </a:r>
            <a:r>
              <a:rPr lang="ru-RU" sz="834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пользователя.</a:t>
            </a:r>
            <a:endParaRPr lang="en-US" sz="834" dirty="0"/>
          </a:p>
        </p:txBody>
      </p:sp>
      <p:sp>
        <p:nvSpPr>
          <p:cNvPr id="34" name="Text 31"/>
          <p:cNvSpPr/>
          <p:nvPr/>
        </p:nvSpPr>
        <p:spPr>
          <a:xfrm>
            <a:off x="8626258" y="3374529"/>
            <a:ext cx="294639" cy="292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3182CE">
                    <a:alpha val="2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808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DDD03CD-5398-E72C-4B9C-F04951588070}"/>
              </a:ext>
            </a:extLst>
          </p:cNvPr>
          <p:cNvSpPr txBox="1"/>
          <p:nvPr/>
        </p:nvSpPr>
        <p:spPr>
          <a:xfrm>
            <a:off x="8744173" y="485511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12</a:t>
            </a:r>
          </a:p>
        </p:txBody>
      </p:sp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5E43630E-4F47-8E2F-4E57-3FC254D390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59" y="1319808"/>
            <a:ext cx="2135496" cy="382369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2598275" cy="2821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200"/>
              </a:lnSpc>
            </a:pPr>
            <a:r>
              <a:rPr lang="en-US" sz="2000" b="1" dirty="0" err="1">
                <a:solidFill>
                  <a:srgbClr val="1A365D"/>
                </a:solidFill>
                <a:latin typeface="Inter" pitchFamily="34" charset="0"/>
                <a:ea typeface="Inter" pitchFamily="34" charset="-122"/>
              </a:rPr>
              <a:t>Экономическая</a:t>
            </a:r>
            <a:r>
              <a:rPr lang="en-US" sz="2000" b="1" dirty="0">
                <a:solidFill>
                  <a:srgbClr val="1A365D"/>
                </a:solidFill>
                <a:latin typeface="Inter" pitchFamily="34" charset="0"/>
                <a:ea typeface="Inter" pitchFamily="34" charset="-122"/>
              </a:rPr>
              <a:t> </a:t>
            </a:r>
            <a:r>
              <a:rPr lang="ru-RU" sz="2000" b="1" dirty="0">
                <a:solidFill>
                  <a:srgbClr val="1A365D"/>
                </a:solidFill>
                <a:latin typeface="Inter" pitchFamily="34" charset="0"/>
                <a:ea typeface="Inter" pitchFamily="34" charset="-122"/>
              </a:rPr>
              <a:t>оценка</a:t>
            </a:r>
            <a:endParaRPr lang="en-US" sz="2000" b="1" dirty="0">
              <a:solidFill>
                <a:srgbClr val="1A365D"/>
              </a:solidFill>
              <a:latin typeface="Inter" pitchFamily="34" charset="0"/>
              <a:ea typeface="Inter" pitchFamily="34" charset="-122"/>
            </a:endParaRPr>
          </a:p>
        </p:txBody>
      </p:sp>
      <p:sp>
        <p:nvSpPr>
          <p:cNvPr id="4" name="Text 1"/>
          <p:cNvSpPr/>
          <p:nvPr/>
        </p:nvSpPr>
        <p:spPr>
          <a:xfrm>
            <a:off x="428625" y="926902"/>
            <a:ext cx="828675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kern="0" spc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ВНЕДРЕНИЕ СИСТЕМЫ СНИЖАЕТ ТРУДОЗАТРАТЫ НА 60–70% И УСТРАНЯЕТ ОШИБКИ УЧЁТА</a:t>
            </a:r>
            <a:endParaRPr lang="en-US" sz="1193" dirty="0"/>
          </a:p>
        </p:txBody>
      </p:sp>
      <p:sp>
        <p:nvSpPr>
          <p:cNvPr id="5" name="Shape 2"/>
          <p:cNvSpPr/>
          <p:nvPr/>
        </p:nvSpPr>
        <p:spPr>
          <a:xfrm>
            <a:off x="442913" y="1441252"/>
            <a:ext cx="3303259" cy="269677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Shape 3"/>
          <p:cNvSpPr/>
          <p:nvPr/>
        </p:nvSpPr>
        <p:spPr>
          <a:xfrm>
            <a:off x="3739028" y="1441252"/>
            <a:ext cx="7144" cy="26967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4"/>
          <p:cNvSpPr/>
          <p:nvPr/>
        </p:nvSpPr>
        <p:spPr>
          <a:xfrm>
            <a:off x="442913" y="1441252"/>
            <a:ext cx="3303259" cy="269677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ПОКАЗАТЕЛЬ</a:t>
            </a:r>
            <a:endParaRPr lang="en-US" sz="885" dirty="0"/>
          </a:p>
        </p:txBody>
      </p:sp>
      <p:sp>
        <p:nvSpPr>
          <p:cNvPr id="8" name="Shape 5"/>
          <p:cNvSpPr/>
          <p:nvPr/>
        </p:nvSpPr>
        <p:spPr>
          <a:xfrm>
            <a:off x="3746171" y="1441252"/>
            <a:ext cx="2477458" cy="269677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Shape 6"/>
          <p:cNvSpPr/>
          <p:nvPr/>
        </p:nvSpPr>
        <p:spPr>
          <a:xfrm>
            <a:off x="6216486" y="1441252"/>
            <a:ext cx="7144" cy="26967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7"/>
          <p:cNvSpPr/>
          <p:nvPr/>
        </p:nvSpPr>
        <p:spPr>
          <a:xfrm>
            <a:off x="3746171" y="1441252"/>
            <a:ext cx="2477458" cy="269677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 ВНЕДРЕНИЯ</a:t>
            </a:r>
            <a:endParaRPr lang="en-US" sz="885" dirty="0"/>
          </a:p>
        </p:txBody>
      </p:sp>
      <p:sp>
        <p:nvSpPr>
          <p:cNvPr id="11" name="Shape 8"/>
          <p:cNvSpPr/>
          <p:nvPr/>
        </p:nvSpPr>
        <p:spPr>
          <a:xfrm>
            <a:off x="6223629" y="1441252"/>
            <a:ext cx="2477430" cy="269677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Shape 9"/>
          <p:cNvSpPr/>
          <p:nvPr/>
        </p:nvSpPr>
        <p:spPr>
          <a:xfrm>
            <a:off x="8693916" y="1441252"/>
            <a:ext cx="7144" cy="26967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6223629" y="1441252"/>
            <a:ext cx="2477430" cy="269677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ПОСЛЕ ВНЕДРЕНИЯ</a:t>
            </a:r>
            <a:endParaRPr lang="en-US" sz="885" dirty="0"/>
          </a:p>
        </p:txBody>
      </p:sp>
      <p:sp>
        <p:nvSpPr>
          <p:cNvPr id="14" name="Text 11"/>
          <p:cNvSpPr/>
          <p:nvPr/>
        </p:nvSpPr>
        <p:spPr>
          <a:xfrm>
            <a:off x="442913" y="1710928"/>
            <a:ext cx="3303259" cy="28396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365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Учёт товаров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3746171" y="1710928"/>
            <a:ext cx="2477458" cy="28396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Ручной (Excel, бумага)</a:t>
            </a:r>
            <a:endParaRPr lang="en-US" sz="942" dirty="0"/>
          </a:p>
        </p:txBody>
      </p:sp>
      <p:sp>
        <p:nvSpPr>
          <p:cNvPr id="16" name="Shape 13"/>
          <p:cNvSpPr/>
          <p:nvPr/>
        </p:nvSpPr>
        <p:spPr>
          <a:xfrm>
            <a:off x="6223629" y="1710928"/>
            <a:ext cx="2477430" cy="283964"/>
          </a:xfrm>
          <a:prstGeom prst="rect">
            <a:avLst/>
          </a:prstGeom>
          <a:solidFill>
            <a:srgbClr val="3182CE">
              <a:alpha val="5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Shape 14"/>
          <p:cNvSpPr/>
          <p:nvPr/>
        </p:nvSpPr>
        <p:spPr>
          <a:xfrm>
            <a:off x="6223629" y="1987748"/>
            <a:ext cx="2477430" cy="7144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Text 15"/>
          <p:cNvSpPr/>
          <p:nvPr/>
        </p:nvSpPr>
        <p:spPr>
          <a:xfrm>
            <a:off x="6223629" y="1710928"/>
            <a:ext cx="2477430" cy="28396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182C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Автоматизирован</a:t>
            </a:r>
            <a:endParaRPr lang="en-US" sz="885" dirty="0"/>
          </a:p>
        </p:txBody>
      </p:sp>
      <p:sp>
        <p:nvSpPr>
          <p:cNvPr id="19" name="Text 16"/>
          <p:cNvSpPr/>
          <p:nvPr/>
        </p:nvSpPr>
        <p:spPr>
          <a:xfrm>
            <a:off x="442913" y="1994892"/>
            <a:ext cx="3303259" cy="28396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365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Ошибки при учёте</a:t>
            </a:r>
            <a:endParaRPr lang="en-US" sz="885" dirty="0"/>
          </a:p>
        </p:txBody>
      </p:sp>
      <p:sp>
        <p:nvSpPr>
          <p:cNvPr id="20" name="Text 17"/>
          <p:cNvSpPr/>
          <p:nvPr/>
        </p:nvSpPr>
        <p:spPr>
          <a:xfrm>
            <a:off x="3746171" y="1994892"/>
            <a:ext cx="2477458" cy="28396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Высокий уровень</a:t>
            </a:r>
            <a:endParaRPr lang="en-US" sz="942" dirty="0"/>
          </a:p>
        </p:txBody>
      </p:sp>
      <p:sp>
        <p:nvSpPr>
          <p:cNvPr id="21" name="Shape 18"/>
          <p:cNvSpPr/>
          <p:nvPr/>
        </p:nvSpPr>
        <p:spPr>
          <a:xfrm>
            <a:off x="6223629" y="1994892"/>
            <a:ext cx="2477430" cy="283964"/>
          </a:xfrm>
          <a:prstGeom prst="rect">
            <a:avLst/>
          </a:prstGeom>
          <a:solidFill>
            <a:srgbClr val="3182CE">
              <a:alpha val="5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Shape 19"/>
          <p:cNvSpPr/>
          <p:nvPr/>
        </p:nvSpPr>
        <p:spPr>
          <a:xfrm>
            <a:off x="6223629" y="2271713"/>
            <a:ext cx="2477430" cy="7144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20"/>
          <p:cNvSpPr/>
          <p:nvPr/>
        </p:nvSpPr>
        <p:spPr>
          <a:xfrm>
            <a:off x="6223629" y="1994892"/>
            <a:ext cx="2477430" cy="28396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182C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Минимизированы</a:t>
            </a:r>
            <a:endParaRPr lang="en-US" sz="885" dirty="0"/>
          </a:p>
        </p:txBody>
      </p:sp>
      <p:sp>
        <p:nvSpPr>
          <p:cNvPr id="24" name="Text 21"/>
          <p:cNvSpPr/>
          <p:nvPr/>
        </p:nvSpPr>
        <p:spPr>
          <a:xfrm>
            <a:off x="442913" y="2278856"/>
            <a:ext cx="3303259" cy="28396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365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Скорость обработки</a:t>
            </a:r>
            <a:endParaRPr lang="en-US" sz="885" dirty="0"/>
          </a:p>
        </p:txBody>
      </p:sp>
      <p:sp>
        <p:nvSpPr>
          <p:cNvPr id="25" name="Text 22"/>
          <p:cNvSpPr/>
          <p:nvPr/>
        </p:nvSpPr>
        <p:spPr>
          <a:xfrm>
            <a:off x="3746171" y="2278856"/>
            <a:ext cx="2477458" cy="28396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Низкая</a:t>
            </a:r>
            <a:endParaRPr lang="en-US" sz="942" dirty="0"/>
          </a:p>
        </p:txBody>
      </p:sp>
      <p:sp>
        <p:nvSpPr>
          <p:cNvPr id="26" name="Shape 23"/>
          <p:cNvSpPr/>
          <p:nvPr/>
        </p:nvSpPr>
        <p:spPr>
          <a:xfrm>
            <a:off x="6223629" y="2278856"/>
            <a:ext cx="2477430" cy="283964"/>
          </a:xfrm>
          <a:prstGeom prst="rect">
            <a:avLst/>
          </a:prstGeom>
          <a:solidFill>
            <a:srgbClr val="3182CE">
              <a:alpha val="5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Shape 24"/>
          <p:cNvSpPr/>
          <p:nvPr/>
        </p:nvSpPr>
        <p:spPr>
          <a:xfrm>
            <a:off x="6223629" y="2555677"/>
            <a:ext cx="2477430" cy="7144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8" name="Text 25"/>
          <p:cNvSpPr/>
          <p:nvPr/>
        </p:nvSpPr>
        <p:spPr>
          <a:xfrm>
            <a:off x="6223629" y="2278856"/>
            <a:ext cx="2477430" cy="28396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182C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Значительно выше</a:t>
            </a:r>
            <a:endParaRPr lang="en-US" sz="885" dirty="0"/>
          </a:p>
        </p:txBody>
      </p:sp>
      <p:sp>
        <p:nvSpPr>
          <p:cNvPr id="29" name="Text 26"/>
          <p:cNvSpPr/>
          <p:nvPr/>
        </p:nvSpPr>
        <p:spPr>
          <a:xfrm>
            <a:off x="442913" y="2562820"/>
            <a:ext cx="3303259" cy="28396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A365D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Трудозатраты</a:t>
            </a:r>
            <a:endParaRPr lang="en-US" sz="885" dirty="0"/>
          </a:p>
        </p:txBody>
      </p:sp>
      <p:sp>
        <p:nvSpPr>
          <p:cNvPr id="30" name="Text 27"/>
          <p:cNvSpPr/>
          <p:nvPr/>
        </p:nvSpPr>
        <p:spPr>
          <a:xfrm>
            <a:off x="3746171" y="2562820"/>
            <a:ext cx="2477458" cy="28396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100% (Базовый уровень)</a:t>
            </a:r>
            <a:endParaRPr lang="en-US" sz="942" dirty="0"/>
          </a:p>
        </p:txBody>
      </p:sp>
      <p:sp>
        <p:nvSpPr>
          <p:cNvPr id="31" name="Shape 28"/>
          <p:cNvSpPr/>
          <p:nvPr/>
        </p:nvSpPr>
        <p:spPr>
          <a:xfrm>
            <a:off x="6223629" y="2562820"/>
            <a:ext cx="2477430" cy="283964"/>
          </a:xfrm>
          <a:prstGeom prst="rect">
            <a:avLst/>
          </a:prstGeom>
          <a:solidFill>
            <a:srgbClr val="3182CE">
              <a:alpha val="5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2" name="Shape 29"/>
          <p:cNvSpPr/>
          <p:nvPr/>
        </p:nvSpPr>
        <p:spPr>
          <a:xfrm>
            <a:off x="6223629" y="2839641"/>
            <a:ext cx="2477430" cy="7144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3" name="Text 30"/>
          <p:cNvSpPr/>
          <p:nvPr/>
        </p:nvSpPr>
        <p:spPr>
          <a:xfrm>
            <a:off x="6223629" y="2562820"/>
            <a:ext cx="2477430" cy="283964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182C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Снижение на 60–70%</a:t>
            </a:r>
            <a:endParaRPr lang="en-US" sz="885" dirty="0"/>
          </a:p>
        </p:txBody>
      </p:sp>
      <p:sp>
        <p:nvSpPr>
          <p:cNvPr id="34" name="Shape 31"/>
          <p:cNvSpPr/>
          <p:nvPr/>
        </p:nvSpPr>
        <p:spPr>
          <a:xfrm>
            <a:off x="4493281" y="3448401"/>
            <a:ext cx="2171225" cy="1590708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pPr algn="ctr">
              <a:lnSpc>
                <a:spcPts val="1500"/>
              </a:lnSpc>
            </a:pPr>
            <a:endParaRPr lang="en-US" dirty="0"/>
          </a:p>
        </p:txBody>
      </p:sp>
      <p:sp>
        <p:nvSpPr>
          <p:cNvPr id="35" name="Shape 32"/>
          <p:cNvSpPr/>
          <p:nvPr/>
        </p:nvSpPr>
        <p:spPr>
          <a:xfrm>
            <a:off x="4493281" y="3404174"/>
            <a:ext cx="2164082" cy="54559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6" name="Text 33"/>
          <p:cNvSpPr/>
          <p:nvPr/>
        </p:nvSpPr>
        <p:spPr>
          <a:xfrm>
            <a:off x="5075530" y="3709830"/>
            <a:ext cx="1005546" cy="1742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endParaRPr lang="en-US" sz="885" dirty="0"/>
          </a:p>
        </p:txBody>
      </p:sp>
      <p:sp>
        <p:nvSpPr>
          <p:cNvPr id="37" name="Shape 34"/>
          <p:cNvSpPr/>
          <p:nvPr/>
        </p:nvSpPr>
        <p:spPr>
          <a:xfrm>
            <a:off x="6841927" y="3411318"/>
            <a:ext cx="1873448" cy="1627791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38" name="Shape 35"/>
          <p:cNvSpPr/>
          <p:nvPr/>
        </p:nvSpPr>
        <p:spPr>
          <a:xfrm>
            <a:off x="6841926" y="3391341"/>
            <a:ext cx="1873449" cy="45719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9" name="Text 36"/>
          <p:cNvSpPr/>
          <p:nvPr/>
        </p:nvSpPr>
        <p:spPr>
          <a:xfrm>
            <a:off x="6799665" y="3915308"/>
            <a:ext cx="1873448" cy="1742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endParaRPr lang="en-US" sz="885" dirty="0"/>
          </a:p>
        </p:txBody>
      </p:sp>
      <p:sp>
        <p:nvSpPr>
          <p:cNvPr id="42" name="Text 39"/>
          <p:cNvSpPr/>
          <p:nvPr/>
        </p:nvSpPr>
        <p:spPr>
          <a:xfrm>
            <a:off x="6216235" y="3976390"/>
            <a:ext cx="2321719" cy="1742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endParaRPr lang="en-US" sz="885" dirty="0"/>
          </a:p>
        </p:txBody>
      </p:sp>
      <p:graphicFrame>
        <p:nvGraphicFramePr>
          <p:cNvPr id="44" name="Таблица 43">
            <a:extLst>
              <a:ext uri="{FF2B5EF4-FFF2-40B4-BE49-F238E27FC236}">
                <a16:creationId xmlns:a16="http://schemas.microsoft.com/office/drawing/2014/main" id="{C267CF65-E401-2895-58BE-8273D9E3B2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2434805"/>
              </p:ext>
            </p:extLst>
          </p:nvPr>
        </p:nvGraphicFramePr>
        <p:xfrm>
          <a:off x="450396" y="3409787"/>
          <a:ext cx="3798840" cy="156832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{2D5ABB26-0587-4C30-8999-92F81FD0307C}</a:tableStyleId>
              </a:tblPr>
              <a:tblGrid>
                <a:gridCol w="2432642">
                  <a:extLst>
                    <a:ext uri="{9D8B030D-6E8A-4147-A177-3AD203B41FA5}">
                      <a16:colId xmlns:a16="http://schemas.microsoft.com/office/drawing/2014/main" val="2904655464"/>
                    </a:ext>
                  </a:extLst>
                </a:gridCol>
                <a:gridCol w="1366198">
                  <a:extLst>
                    <a:ext uri="{9D8B030D-6E8A-4147-A177-3AD203B41FA5}">
                      <a16:colId xmlns:a16="http://schemas.microsoft.com/office/drawing/2014/main" val="11160136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bg1"/>
                          </a:solidFill>
                          <a:latin typeface="+mn-lt"/>
                        </a:rPr>
                        <a:t>Статья затрат</a:t>
                      </a:r>
                    </a:p>
                  </a:txBody>
                  <a:tcPr marL="69879" marR="69879" marT="34939" marB="34939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bg1"/>
                          </a:solidFill>
                          <a:latin typeface="+mn-lt"/>
                        </a:rPr>
                        <a:t>Сумма</a:t>
                      </a:r>
                      <a:r>
                        <a:rPr lang="en-US" sz="1100" dirty="0">
                          <a:solidFill>
                            <a:schemeClr val="accent4">
                              <a:lumMod val="20000"/>
                              <a:lumOff val="80000"/>
                            </a:schemeClr>
                          </a:solidFill>
                          <a:latin typeface="+mn-lt"/>
                        </a:rPr>
                        <a:t>, </a:t>
                      </a:r>
                      <a:r>
                        <a:rPr lang="ru-RU" sz="1100" dirty="0" err="1">
                          <a:solidFill>
                            <a:schemeClr val="bg1"/>
                          </a:solidFill>
                          <a:latin typeface="+mn-lt"/>
                        </a:rPr>
                        <a:t>руб</a:t>
                      </a:r>
                      <a:r>
                        <a:rPr lang="en-US" sz="1100" dirty="0">
                          <a:solidFill>
                            <a:schemeClr val="accent4">
                              <a:lumMod val="20000"/>
                              <a:lumOff val="80000"/>
                            </a:schemeClr>
                          </a:solidFill>
                          <a:latin typeface="+mn-lt"/>
                        </a:rPr>
                        <a:t>.</a:t>
                      </a:r>
                      <a:endParaRPr lang="ru-RU" sz="1100" dirty="0">
                        <a:solidFill>
                          <a:schemeClr val="accent4">
                            <a:lumMod val="20000"/>
                            <a:lumOff val="80000"/>
                          </a:schemeClr>
                        </a:solidFill>
                        <a:latin typeface="+mn-lt"/>
                      </a:endParaRPr>
                    </a:p>
                  </a:txBody>
                  <a:tcPr marL="69879" marR="69879" marT="34939" marB="349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A36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412346"/>
                  </a:ext>
                </a:extLst>
              </a:tr>
              <a:tr h="2661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800" dirty="0">
                          <a:effectLst/>
                          <a:latin typeface="Merriweather" pitchFamily="2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1. Оплата труда разработчика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ru-RU" sz="800" dirty="0">
                        <a:effectLst/>
                        <a:latin typeface="Merriweather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ru-RU" sz="800" dirty="0">
                          <a:effectLst/>
                          <a:latin typeface="Merriweather" pitchFamily="2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171 864,00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237162"/>
                  </a:ext>
                </a:extLst>
              </a:tr>
              <a:tr h="2661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800">
                          <a:effectLst/>
                          <a:latin typeface="Merriweather" pitchFamily="2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2. Материальные затраты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ru-RU" sz="800" dirty="0">
                        <a:effectLst/>
                        <a:latin typeface="Merriweather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ru-RU" sz="800" dirty="0">
                          <a:effectLst/>
                          <a:latin typeface="Merriweather" pitchFamily="2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700,00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7996146"/>
                  </a:ext>
                </a:extLst>
              </a:tr>
              <a:tr h="2661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800">
                          <a:effectLst/>
                          <a:latin typeface="Merriweather" pitchFamily="2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3. Амортизация оборудования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ru-RU" sz="800" dirty="0">
                        <a:effectLst/>
                        <a:latin typeface="Merriweather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ru-RU" sz="800" dirty="0">
                          <a:effectLst/>
                          <a:latin typeface="Merriweather" pitchFamily="2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1 702,80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0661258"/>
                  </a:ext>
                </a:extLst>
              </a:tr>
              <a:tr h="2661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ru-RU" sz="800" dirty="0">
                        <a:effectLst/>
                        <a:latin typeface="Merriweather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ru-RU" sz="800" dirty="0">
                          <a:effectLst/>
                          <a:latin typeface="Merriweather" pitchFamily="2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4. Затраты на электроэнергию</a:t>
                      </a:r>
                    </a:p>
                  </a:txBody>
                  <a:tcPr marL="0" marR="0" marT="0" marB="0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800">
                          <a:effectLst/>
                          <a:latin typeface="Merriweather" pitchFamily="2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525,10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8296141"/>
                  </a:ext>
                </a:extLst>
              </a:tr>
              <a:tr h="266162">
                <a:tc>
                  <a:txBody>
                    <a:bodyPr/>
                    <a:lstStyle/>
                    <a:p>
                      <a:pPr marR="76200" algn="r">
                        <a:buNone/>
                      </a:pPr>
                      <a:endParaRPr lang="ru-RU" sz="800" b="1" dirty="0">
                        <a:effectLst/>
                        <a:latin typeface="Merriweather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R="76200" algn="ctr">
                        <a:buNone/>
                      </a:pPr>
                      <a:r>
                        <a:rPr lang="ru-RU" sz="800" b="1" dirty="0">
                          <a:effectLst/>
                          <a:latin typeface="Merriweather" pitchFamily="2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Всего затрат</a:t>
                      </a:r>
                      <a:endParaRPr lang="ru-RU" sz="800" dirty="0">
                        <a:effectLst/>
                        <a:latin typeface="Merriweather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800" b="1" dirty="0">
                          <a:effectLst/>
                          <a:latin typeface="Merriweather" pitchFamily="2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174 791,90</a:t>
                      </a:r>
                      <a:endParaRPr lang="ru-RU" sz="800" dirty="0">
                        <a:effectLst/>
                        <a:latin typeface="Merriweather" pitchFamily="2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7509894"/>
                  </a:ext>
                </a:extLst>
              </a:tr>
            </a:tbl>
          </a:graphicData>
        </a:graphic>
      </p:graphicFrame>
      <p:sp>
        <p:nvSpPr>
          <p:cNvPr id="46" name="TextBox 45">
            <a:extLst>
              <a:ext uri="{FF2B5EF4-FFF2-40B4-BE49-F238E27FC236}">
                <a16:creationId xmlns:a16="http://schemas.microsoft.com/office/drawing/2014/main" id="{77F027ED-2910-02AB-A949-5708BCF7CF28}"/>
              </a:ext>
            </a:extLst>
          </p:cNvPr>
          <p:cNvSpPr txBox="1"/>
          <p:nvPr/>
        </p:nvSpPr>
        <p:spPr>
          <a:xfrm>
            <a:off x="341276" y="3140624"/>
            <a:ext cx="26053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Расходы на разработку</a:t>
            </a:r>
            <a:endParaRPr lang="ru-RU" sz="14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BC7FD10-23B1-B59B-33D1-262611749DD8}"/>
              </a:ext>
            </a:extLst>
          </p:cNvPr>
          <p:cNvSpPr txBox="1"/>
          <p:nvPr/>
        </p:nvSpPr>
        <p:spPr>
          <a:xfrm>
            <a:off x="4753617" y="3777839"/>
            <a:ext cx="1753654" cy="705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1400" b="1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Годовая экономия: 321 594 руб.</a:t>
            </a:r>
            <a:endParaRPr lang="en-US" sz="14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BB7240B-B1D1-ED15-05EC-B757A69A7763}"/>
              </a:ext>
            </a:extLst>
          </p:cNvPr>
          <p:cNvSpPr txBox="1"/>
          <p:nvPr/>
        </p:nvSpPr>
        <p:spPr>
          <a:xfrm>
            <a:off x="6908551" y="3798065"/>
            <a:ext cx="1753654" cy="705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1400" b="1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Срок окупаемости: 6.3 месяца</a:t>
            </a:r>
            <a:endParaRPr lang="en-US" sz="14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C6761CD-D942-725E-20CA-A88D439A1628}"/>
              </a:ext>
            </a:extLst>
          </p:cNvPr>
          <p:cNvSpPr txBox="1"/>
          <p:nvPr/>
        </p:nvSpPr>
        <p:spPr>
          <a:xfrm>
            <a:off x="8741953" y="47741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89" y="12753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57188"/>
            <a:ext cx="800100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2200"/>
              </a:lnSpc>
            </a:pPr>
            <a:r>
              <a:rPr lang="en-US" sz="2000" b="1" dirty="0">
                <a:solidFill>
                  <a:srgbClr val="1A365D"/>
                </a:solidFill>
                <a:latin typeface="Inter" pitchFamily="34" charset="0"/>
                <a:ea typeface="Inter" pitchFamily="34" charset="-122"/>
              </a:rPr>
              <a:t>Заключение и </a:t>
            </a:r>
            <a:r>
              <a:rPr lang="en-US" sz="2000" b="1" dirty="0" err="1">
                <a:solidFill>
                  <a:srgbClr val="1A365D"/>
                </a:solidFill>
                <a:latin typeface="Inter" pitchFamily="34" charset="0"/>
                <a:ea typeface="Inter" pitchFamily="34" charset="-122"/>
              </a:rPr>
              <a:t>результаты</a:t>
            </a:r>
            <a:endParaRPr lang="en-US" sz="2000" b="1" dirty="0">
              <a:solidFill>
                <a:srgbClr val="1A365D"/>
              </a:solidFill>
              <a:latin typeface="Inter" pitchFamily="34" charset="0"/>
              <a:ea typeface="Inter" pitchFamily="34" charset="-122"/>
            </a:endParaRPr>
          </a:p>
        </p:txBody>
      </p:sp>
      <p:sp>
        <p:nvSpPr>
          <p:cNvPr id="4" name="Text 1"/>
          <p:cNvSpPr/>
          <p:nvPr/>
        </p:nvSpPr>
        <p:spPr>
          <a:xfrm>
            <a:off x="571500" y="1041202"/>
            <a:ext cx="80010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Разработанная система готова к внедрению и решает все поставленные задачи</a:t>
            </a:r>
            <a:endParaRPr lang="en-US" sz="1193" dirty="0"/>
          </a:p>
        </p:txBody>
      </p:sp>
      <p:sp>
        <p:nvSpPr>
          <p:cNvPr id="5" name="Shape 2"/>
          <p:cNvSpPr/>
          <p:nvPr/>
        </p:nvSpPr>
        <p:spPr>
          <a:xfrm>
            <a:off x="571500" y="1534120"/>
            <a:ext cx="5143500" cy="2318147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Shape 3"/>
          <p:cNvSpPr/>
          <p:nvPr/>
        </p:nvSpPr>
        <p:spPr>
          <a:xfrm>
            <a:off x="571500" y="1534120"/>
            <a:ext cx="42863" cy="2318147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4"/>
          <p:cNvSpPr/>
          <p:nvPr/>
        </p:nvSpPr>
        <p:spPr>
          <a:xfrm>
            <a:off x="857250" y="1748433"/>
            <a:ext cx="457200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kern="0" spc="1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ДОСТИГНУТЫЕ РЕЗУЛЬТАТЫ</a:t>
            </a:r>
            <a:endParaRPr lang="en-US" sz="1090" dirty="0"/>
          </a:p>
        </p:txBody>
      </p:sp>
      <p:sp>
        <p:nvSpPr>
          <p:cNvPr id="8" name="Text 5"/>
          <p:cNvSpPr/>
          <p:nvPr/>
        </p:nvSpPr>
        <p:spPr>
          <a:xfrm>
            <a:off x="857250" y="2080617"/>
            <a:ext cx="4572000" cy="192881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Разработано мобильное приложение на React Native (Expo)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857250" y="2380655"/>
            <a:ext cx="4572000" cy="192881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Реализована облачная база данных на Firebase Firestore</a:t>
            </a:r>
            <a:endParaRPr lang="en-US" sz="942" dirty="0"/>
          </a:p>
        </p:txBody>
      </p:sp>
      <p:sp>
        <p:nvSpPr>
          <p:cNvPr id="10" name="Text 7"/>
          <p:cNvSpPr/>
          <p:nvPr/>
        </p:nvSpPr>
        <p:spPr>
          <a:xfrm>
            <a:off x="857250" y="2680692"/>
            <a:ext cx="4616141" cy="368434"/>
          </a:xfrm>
          <a:prstGeom prst="rect">
            <a:avLst/>
          </a:prstGeom>
          <a:noFill/>
          <a:ln/>
        </p:spPr>
        <p:txBody>
          <a:bodyPr wrap="square" lIns="212598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 err="1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Обеспечен</a:t>
            </a:r>
            <a:r>
              <a:rPr lang="en-US" sz="942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</a:t>
            </a:r>
            <a:r>
              <a:rPr lang="ru-RU" sz="942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функционал</a:t>
            </a:r>
            <a:r>
              <a:rPr lang="en-US" sz="942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</a:t>
            </a:r>
            <a:r>
              <a:rPr lang="ru-RU" sz="942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мониторинга </a:t>
            </a:r>
          </a:p>
          <a:p>
            <a:pPr marL="0" indent="0" algn="l">
              <a:lnSpc>
                <a:spcPts val="1500"/>
              </a:lnSpc>
              <a:buNone/>
            </a:pPr>
            <a:r>
              <a:rPr lang="en-US" sz="942" dirty="0" err="1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складских</a:t>
            </a:r>
            <a:r>
              <a:rPr lang="en-US" sz="942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операций в реальном времени</a:t>
            </a:r>
            <a:endParaRPr lang="en-US" sz="942" dirty="0"/>
          </a:p>
        </p:txBody>
      </p:sp>
      <p:sp>
        <p:nvSpPr>
          <p:cNvPr id="11" name="Text 8"/>
          <p:cNvSpPr/>
          <p:nvPr/>
        </p:nvSpPr>
        <p:spPr>
          <a:xfrm>
            <a:off x="857250" y="2980730"/>
            <a:ext cx="214739" cy="176138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endParaRPr lang="en-US" sz="942" dirty="0"/>
          </a:p>
        </p:txBody>
      </p:sp>
      <p:sp>
        <p:nvSpPr>
          <p:cNvPr id="12" name="Text 9"/>
          <p:cNvSpPr/>
          <p:nvPr/>
        </p:nvSpPr>
        <p:spPr>
          <a:xfrm>
            <a:off x="855488" y="3167583"/>
            <a:ext cx="4572000" cy="192881"/>
          </a:xfrm>
          <a:prstGeom prst="rect">
            <a:avLst/>
          </a:prstGeom>
          <a:noFill/>
          <a:ln/>
        </p:spPr>
        <p:txBody>
          <a:bodyPr wrap="none" lIns="212598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Проведена экономическая оценка эффективности</a:t>
            </a:r>
            <a:endParaRPr lang="en-US" sz="942" dirty="0"/>
          </a:p>
        </p:txBody>
      </p:sp>
      <p:sp>
        <p:nvSpPr>
          <p:cNvPr id="13" name="Shape 10"/>
          <p:cNvSpPr/>
          <p:nvPr/>
        </p:nvSpPr>
        <p:spPr>
          <a:xfrm>
            <a:off x="6000750" y="1534120"/>
            <a:ext cx="2571750" cy="2318147"/>
          </a:xfrm>
          <a:prstGeom prst="rect">
            <a:avLst/>
          </a:prstGeom>
          <a:solidFill>
            <a:srgbClr val="1A365D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Shape 11"/>
          <p:cNvSpPr/>
          <p:nvPr/>
        </p:nvSpPr>
        <p:spPr>
          <a:xfrm>
            <a:off x="6000750" y="1534120"/>
            <a:ext cx="2571750" cy="42863"/>
          </a:xfrm>
          <a:prstGeom prst="rect">
            <a:avLst/>
          </a:prstGeom>
          <a:solidFill>
            <a:srgbClr val="3182C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2"/>
          <p:cNvSpPr/>
          <p:nvPr/>
        </p:nvSpPr>
        <p:spPr>
          <a:xfrm>
            <a:off x="857250" y="2109192"/>
            <a:ext cx="6038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3182C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■</a:t>
            </a:r>
            <a:endParaRPr lang="en-US" sz="727" dirty="0"/>
          </a:p>
        </p:txBody>
      </p:sp>
      <p:sp>
        <p:nvSpPr>
          <p:cNvPr id="16" name="Text 13"/>
          <p:cNvSpPr/>
          <p:nvPr/>
        </p:nvSpPr>
        <p:spPr>
          <a:xfrm>
            <a:off x="857250" y="2409230"/>
            <a:ext cx="6038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3182C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■</a:t>
            </a:r>
            <a:endParaRPr lang="en-US" sz="727" dirty="0"/>
          </a:p>
        </p:txBody>
      </p:sp>
      <p:sp>
        <p:nvSpPr>
          <p:cNvPr id="17" name="Text 14"/>
          <p:cNvSpPr/>
          <p:nvPr/>
        </p:nvSpPr>
        <p:spPr>
          <a:xfrm>
            <a:off x="857250" y="2709267"/>
            <a:ext cx="6038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3182C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■</a:t>
            </a:r>
            <a:endParaRPr lang="en-US" sz="727" dirty="0"/>
          </a:p>
        </p:txBody>
      </p:sp>
      <p:sp>
        <p:nvSpPr>
          <p:cNvPr id="18" name="Text 15"/>
          <p:cNvSpPr/>
          <p:nvPr/>
        </p:nvSpPr>
        <p:spPr>
          <a:xfrm>
            <a:off x="857250" y="3009305"/>
            <a:ext cx="65" cy="14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endParaRPr lang="en-US" sz="727" dirty="0"/>
          </a:p>
        </p:txBody>
      </p:sp>
      <p:sp>
        <p:nvSpPr>
          <p:cNvPr id="19" name="Text 16"/>
          <p:cNvSpPr/>
          <p:nvPr/>
        </p:nvSpPr>
        <p:spPr>
          <a:xfrm>
            <a:off x="855488" y="3183734"/>
            <a:ext cx="6038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3182C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■</a:t>
            </a:r>
            <a:endParaRPr lang="en-US" sz="727" dirty="0"/>
          </a:p>
        </p:txBody>
      </p:sp>
      <p:sp>
        <p:nvSpPr>
          <p:cNvPr id="20" name="Text 17"/>
          <p:cNvSpPr/>
          <p:nvPr/>
        </p:nvSpPr>
        <p:spPr>
          <a:xfrm>
            <a:off x="6286500" y="1860947"/>
            <a:ext cx="2000250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kern="0" spc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ПРАКТИЧЕСКАЯ ЗНАЧИМОСТЬ</a:t>
            </a:r>
            <a:endParaRPr lang="en-US" sz="1090" dirty="0"/>
          </a:p>
        </p:txBody>
      </p:sp>
      <p:sp>
        <p:nvSpPr>
          <p:cNvPr id="21" name="Text 18"/>
          <p:cNvSpPr/>
          <p:nvPr/>
        </p:nvSpPr>
        <p:spPr>
          <a:xfrm>
            <a:off x="6286500" y="2382441"/>
            <a:ext cx="2000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Система готова к внедрению и может быть использована в сферах логистики, фулфилмента и торговли.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71500" y="4295180"/>
            <a:ext cx="80010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1A36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Спасибо за внимание!</a:t>
            </a:r>
            <a:endParaRPr lang="en-US" sz="1808" dirty="0"/>
          </a:p>
        </p:txBody>
      </p:sp>
      <p:sp>
        <p:nvSpPr>
          <p:cNvPr id="23" name="Text 20"/>
          <p:cNvSpPr/>
          <p:nvPr/>
        </p:nvSpPr>
        <p:spPr>
          <a:xfrm>
            <a:off x="571500" y="4714875"/>
            <a:ext cx="800100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34" dirty="0">
                <a:solidFill>
                  <a:srgbClr val="2D3748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Сайфутдинов А.Г. | Руководитель: Ченушкина С.В. | Екатеринбург, 2026</a:t>
            </a:r>
            <a:endParaRPr lang="en-US" sz="834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1F4EA69-6AF2-5244-9B05-312BD9B4B7E2}"/>
              </a:ext>
            </a:extLst>
          </p:cNvPr>
          <p:cNvSpPr txBox="1"/>
          <p:nvPr/>
        </p:nvSpPr>
        <p:spPr>
          <a:xfrm>
            <a:off x="8707407" y="473915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2451</TotalTime>
  <Words>969</Words>
  <Application>Microsoft Macintosh PowerPoint</Application>
  <PresentationFormat>Экран (16:9)</PresentationFormat>
  <Paragraphs>239</Paragraphs>
  <Slides>14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Arial</vt:lpstr>
      <vt:lpstr>Inter</vt:lpstr>
      <vt:lpstr>Merriweather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Office</cp:lastModifiedBy>
  <cp:revision>19</cp:revision>
  <dcterms:created xsi:type="dcterms:W3CDTF">2026-04-19T20:46:03Z</dcterms:created>
  <dcterms:modified xsi:type="dcterms:W3CDTF">2026-04-23T16:47:52Z</dcterms:modified>
</cp:coreProperties>
</file>